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preferSingleView="1"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6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738AF-AF06-1D8A-4FDD-03204BCCDE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6897BC-7222-0497-AF2E-8CE252E25A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F14E4-42D8-A5F0-EE9A-981766A27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A3F5C-3262-4247-8121-18398CECBAFD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7D966-8E2D-F84D-1252-989AC25E1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988B5-31B0-6A17-D77B-6872DC480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5419F-0681-479E-ACDD-7D9C72195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736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DF68D-AD2A-E0D1-3471-DA1A651FB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B5D67-DE99-8BE1-CBBE-303FAF12B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0CC25-F0D1-4CE0-4E6F-2191C5BF8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A3F5C-3262-4247-8121-18398CECBAFD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BC7A4-30AC-F14B-EE42-0EC4473A1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2336A-5A93-8640-43F3-F536E3AEE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5419F-0681-479E-ACDD-7D9C72195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923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2F490-F8B4-09F0-D265-A569AEABC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6ABF8-2A6B-EE17-E83A-E22A4C035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FAF40-95E7-5C67-B803-35EA0F462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A3F5C-3262-4247-8121-18398CECBAFD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A995C-E811-4EAD-02A7-D6F3FA702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D64B8-D151-AB95-6211-474B719BE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5419F-0681-479E-ACDD-7D9C72195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7778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AC067-2F2F-E9B5-FA77-F8A5AB057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F0BF8-4D93-DA82-E09C-A7A782EC56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93F96C-0935-4B37-E2EE-69D6E34B0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9574A0-BA16-D5A2-C8D2-3A422157E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A3F5C-3262-4247-8121-18398CECBAFD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C27E39-F8F5-CD0F-1326-35FA36D29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08AD3-42F6-C08E-84EB-4DFB8BD5B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5419F-0681-479E-ACDD-7D9C72195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9206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ADED8-B9FB-62E1-D3E1-33473D5E4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D43A40-ECA3-8FC4-81A1-1AD4F15E0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0E4E6E-0F1F-8BFB-8154-CD44BDB361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3CD4-1ADA-3DF5-9712-50E99D617E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81A033-216B-A353-601F-0D2783510E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F022A3-3FCB-FDC8-AEF3-9D905AE52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A3F5C-3262-4247-8121-18398CECBAFD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980A0B-F4C1-1E85-DA87-2D4D3136E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D397E6-7B59-8839-2780-A2B8AAC6E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5419F-0681-479E-ACDD-7D9C72195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1881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18387-7F61-BF5F-0CF8-FFFE3602A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9E8245-173B-6D49-9D0C-DD201ECF2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A3F5C-3262-4247-8121-18398CECBAFD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ECD0D2-16FB-CCB9-5545-D37A0CA89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B056B0-0464-9E58-3402-666F28D72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5419F-0681-479E-ACDD-7D9C72195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148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C0424A-C4BB-9B2A-B9E8-D5F79650B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A3F5C-3262-4247-8121-18398CECBAFD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A86FBB-A483-E2EE-36B4-7C5216EE2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0B8D24-7A51-86CC-6EB4-581958B30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5419F-0681-479E-ACDD-7D9C72195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3478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4B647-227D-1590-BD5F-753F025F0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F25B3-7140-640E-26B6-59AA548E1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622EDF-4257-C6DD-91D5-8AA3D57BF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B966F0-03EC-2E61-3952-99C8A16E8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A3F5C-3262-4247-8121-18398CECBAFD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DA5877-7900-65C2-F41D-7D67FDC7A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71C9F-2304-2E1B-E34A-445B4F51F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5419F-0681-479E-ACDD-7D9C72195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789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9ABB8-695D-2510-0FDA-E03B60D4B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24E27A-B398-A9B6-CBBD-7606AA1D1A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4F18CF-BE2B-D322-5E65-7201134B2D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BB18D0-B6FB-E585-35C9-894A96173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A3F5C-3262-4247-8121-18398CECBAFD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C2ADD6-A398-26A5-CD34-C127A1BF2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BAB21B-23F0-0C80-9F4A-C3F0E120B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5419F-0681-479E-ACDD-7D9C72195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89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5E97B-54C8-7DCB-E7F7-55DD2275B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F389F5-05B0-1608-324B-E9D2C8ABA0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F34C3-16D4-CA17-22F5-B6CD54056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A3F5C-3262-4247-8121-18398CECBAFD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DA527-838F-11C5-87DB-7A0D88AB0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E4B38-A934-E2B9-250E-5A399B003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5419F-0681-479E-ACDD-7D9C72195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59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0F63C5-7FF4-E92F-781A-52BFD0BC49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10865B-EAA2-F984-43D6-126D4F4DAC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710CC-FA37-BC75-A754-57A5362B8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A3F5C-3262-4247-8121-18398CECBAFD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58ED3-2E27-C546-22E5-C7A958158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8B076-ECDF-A3B2-5DFF-8B4DB01AE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5419F-0681-479E-ACDD-7D9C72195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089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237C44-AF64-0451-0759-41746B8ED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4961D8-766B-CFDD-E961-3A8A54B4D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74811-083F-4C12-F8CB-89C976EF8B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1A3F5C-3262-4247-8121-18398CECBAFD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3C5C9-0753-0924-66B9-ED8A288590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913F4-E56D-E3C7-E5E4-0B6C88F19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25419F-0681-479E-ACDD-7D9C721957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533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2D6519-920D-7ABB-D0A6-59024C8F80FD}"/>
              </a:ext>
            </a:extLst>
          </p:cNvPr>
          <p:cNvSpPr txBox="1"/>
          <p:nvPr/>
        </p:nvSpPr>
        <p:spPr>
          <a:xfrm>
            <a:off x="533400" y="4318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600" b="1">
                <a:solidFill>
                  <a:srgbClr val="008C9E"/>
                </a:solidFill>
                <a:latin typeface="Aptos" panose="020B0004020202020204" pitchFamily="34" charset="0"/>
              </a:rPr>
              <a:t>ICSIMA2026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4AF6DD-0A2D-EED0-1666-A61DB4B15575}"/>
              </a:ext>
            </a:extLst>
          </p:cNvPr>
          <p:cNvSpPr txBox="1"/>
          <p:nvPr/>
        </p:nvSpPr>
        <p:spPr>
          <a:xfrm>
            <a:off x="533400" y="12446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600" b="1">
                <a:solidFill>
                  <a:srgbClr val="101820"/>
                </a:solidFill>
                <a:latin typeface="Aptos" panose="020B0004020202020204" pitchFamily="34" charset="0"/>
              </a:rPr>
              <a:t>NurdleDNA: An Edge-AI and Smart IoT Inline System for Source-Level Microplastic Detection</a:t>
            </a:r>
            <a:endParaRPr lang="en-IN" sz="3600" b="1">
              <a:solidFill>
                <a:srgbClr val="10182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435C22-E0D9-AD46-510D-D8AEA94DB82A}"/>
              </a:ext>
            </a:extLst>
          </p:cNvPr>
          <p:cNvSpPr txBox="1"/>
          <p:nvPr/>
        </p:nvSpPr>
        <p:spPr>
          <a:xfrm>
            <a:off x="533400" y="32004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700">
                <a:solidFill>
                  <a:srgbClr val="334444"/>
                </a:solidFill>
                <a:latin typeface="Aptos" panose="020B0004020202020204" pitchFamily="34" charset="0"/>
              </a:rPr>
              <a:t>Faaz Ali Sayyed, Muhammad Haaziq, Daniel Joseph Koshy, Mohammed Abdul Rehman, Syed Hasan Ali, Razveen Kashif, and Mohd Fareq Abd Malek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5F9ADF-267E-E7E3-C8C3-2C3870E3D71A}"/>
              </a:ext>
            </a:extLst>
          </p:cNvPr>
          <p:cNvSpPr txBox="1"/>
          <p:nvPr/>
        </p:nvSpPr>
        <p:spPr>
          <a:xfrm>
            <a:off x="533400" y="40386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334444"/>
                </a:solidFill>
                <a:latin typeface="Aptos" panose="020B0004020202020204" pitchFamily="34" charset="0"/>
              </a:rPr>
              <a:t>University of Wollongong in Dubai</a:t>
            </a:r>
            <a:endParaRPr lang="en-IN" b="1">
              <a:solidFill>
                <a:srgbClr val="334444"/>
              </a:solidFill>
              <a:latin typeface="Aptos" panose="020B0004020202020204" pitchFamily="34" charset="0"/>
            </a:endParaRPr>
          </a:p>
        </p:txBody>
      </p:sp>
      <p:pic>
        <p:nvPicPr>
          <p:cNvPr id="7" name="Picture 6" descr="CAD rendering of the NurdleDNA inline device">
            <a:extLst>
              <a:ext uri="{FF2B5EF4-FFF2-40B4-BE49-F238E27FC236}">
                <a16:creationId xmlns:a16="http://schemas.microsoft.com/office/drawing/2014/main" id="{397CA732-DFE8-BAF5-9314-2B3F47658B0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600" y="3810000"/>
            <a:ext cx="2921000" cy="1905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65478A3-0FDB-8C78-1660-E07F862B2629}"/>
              </a:ext>
            </a:extLst>
          </p:cNvPr>
          <p:cNvSpPr/>
          <p:nvPr/>
        </p:nvSpPr>
        <p:spPr>
          <a:xfrm>
            <a:off x="533400" y="5334000"/>
            <a:ext cx="6985000" cy="584200"/>
          </a:xfrm>
          <a:prstGeom prst="rect">
            <a:avLst/>
          </a:prstGeom>
          <a:solidFill>
            <a:srgbClr val="ECF7F7"/>
          </a:solidFill>
          <a:ln w="12700">
            <a:solidFill>
              <a:srgbClr val="C9DF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BA8D28-4C4A-347E-BDBE-0E96F95866D6}"/>
              </a:ext>
            </a:extLst>
          </p:cNvPr>
          <p:cNvSpPr txBox="1"/>
          <p:nvPr/>
        </p:nvSpPr>
        <p:spPr>
          <a:xfrm>
            <a:off x="736600" y="54864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34B52"/>
                </a:solidFill>
                <a:latin typeface="Aptos" panose="020B0004020202020204" pitchFamily="34" charset="0"/>
              </a:rPr>
              <a:t>Backup presentation video: 12 minutes maximum, followed by live Q&amp;A</a:t>
            </a:r>
            <a:endParaRPr lang="en-IN" sz="1500" b="1">
              <a:solidFill>
                <a:srgbClr val="134B52"/>
              </a:solidFill>
              <a:latin typeface="Aptos" panose="020B000402020202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CFD437F-BD6F-15EC-D059-B0F6F630784F}"/>
              </a:ext>
            </a:extLst>
          </p:cNvPr>
          <p:cNvCxnSpPr/>
          <p:nvPr/>
        </p:nvCxnSpPr>
        <p:spPr>
          <a:xfrm>
            <a:off x="533400" y="6350000"/>
            <a:ext cx="11125200" cy="0"/>
          </a:xfrm>
          <a:prstGeom prst="line">
            <a:avLst/>
          </a:prstGeom>
          <a:ln w="15240">
            <a:solidFill>
              <a:srgbClr val="D2D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AFCD627-5D04-6519-CE73-25E5B047E545}"/>
              </a:ext>
            </a:extLst>
          </p:cNvPr>
          <p:cNvSpPr txBox="1"/>
          <p:nvPr/>
        </p:nvSpPr>
        <p:spPr>
          <a:xfrm>
            <a:off x="533400" y="65024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ICSIMA2026 backup video | NurdleDNA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820215-3014-69E7-C9A0-B4AB6C7CE644}"/>
              </a:ext>
            </a:extLst>
          </p:cNvPr>
          <p:cNvSpPr txBox="1"/>
          <p:nvPr/>
        </p:nvSpPr>
        <p:spPr>
          <a:xfrm>
            <a:off x="10795000" y="6502400"/>
            <a:ext cx="86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1 / 12</a:t>
            </a:r>
          </a:p>
        </p:txBody>
      </p:sp>
    </p:spTree>
    <p:extLst>
      <p:ext uri="{BB962C8B-B14F-4D97-AF65-F5344CB8AC3E}">
        <p14:creationId xmlns:p14="http://schemas.microsoft.com/office/powerpoint/2010/main" val="1656621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E4ECD3-C4DE-6B71-AB31-A6B3C6668A0B}"/>
              </a:ext>
            </a:extLst>
          </p:cNvPr>
          <p:cNvSpPr txBox="1"/>
          <p:nvPr/>
        </p:nvSpPr>
        <p:spPr>
          <a:xfrm>
            <a:off x="533400" y="381000"/>
            <a:ext cx="1104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200" b="1">
                <a:solidFill>
                  <a:srgbClr val="101820"/>
                </a:solidFill>
                <a:latin typeface="Aptos" panose="020B0004020202020204" pitchFamily="34" charset="0"/>
              </a:rPr>
              <a:t>Industrial nurdle leaks need source-level response</a:t>
            </a:r>
            <a:endParaRPr lang="en-IN" sz="3200" b="1">
              <a:solidFill>
                <a:srgbClr val="101820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B13E3C-2ECD-482A-D7B2-1BF25EF37347}"/>
              </a:ext>
            </a:extLst>
          </p:cNvPr>
          <p:cNvSpPr txBox="1"/>
          <p:nvPr/>
        </p:nvSpPr>
        <p:spPr>
          <a:xfrm>
            <a:off x="533400" y="1397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4E5F5F"/>
                </a:solidFill>
                <a:latin typeface="Aptos" panose="020B0004020202020204" pitchFamily="34" charset="0"/>
              </a:rPr>
              <a:t>The problem is not only detecting pellets. It is intercepting them before they leave the discharge point.</a:t>
            </a:r>
            <a:endParaRPr lang="en-IN" sz="1400">
              <a:solidFill>
                <a:srgbClr val="4E5F5F"/>
              </a:solidFill>
              <a:latin typeface="Aptos" panose="020B00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02F80EC-3914-5BBC-8C99-C73BBEB19688}"/>
              </a:ext>
            </a:extLst>
          </p:cNvPr>
          <p:cNvCxnSpPr/>
          <p:nvPr/>
        </p:nvCxnSpPr>
        <p:spPr>
          <a:xfrm>
            <a:off x="533400" y="6350000"/>
            <a:ext cx="11125200" cy="0"/>
          </a:xfrm>
          <a:prstGeom prst="line">
            <a:avLst/>
          </a:prstGeom>
          <a:ln w="15240">
            <a:solidFill>
              <a:srgbClr val="D2D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5CFE11D-5B11-D211-425A-AC089D44B08A}"/>
              </a:ext>
            </a:extLst>
          </p:cNvPr>
          <p:cNvSpPr txBox="1"/>
          <p:nvPr/>
        </p:nvSpPr>
        <p:spPr>
          <a:xfrm>
            <a:off x="533400" y="65024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ICSIMA2026 backup video | NurdleDNA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D43FE2-CBFB-2EBA-7D70-5ADA9D2CE50C}"/>
              </a:ext>
            </a:extLst>
          </p:cNvPr>
          <p:cNvSpPr txBox="1"/>
          <p:nvPr/>
        </p:nvSpPr>
        <p:spPr>
          <a:xfrm>
            <a:off x="10795000" y="6502400"/>
            <a:ext cx="86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2 / 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24BCB3-1EF1-0F3B-4384-71EE4235C4EA}"/>
              </a:ext>
            </a:extLst>
          </p:cNvPr>
          <p:cNvSpPr/>
          <p:nvPr/>
        </p:nvSpPr>
        <p:spPr>
          <a:xfrm>
            <a:off x="533400" y="1803400"/>
            <a:ext cx="2159000" cy="1498600"/>
          </a:xfrm>
          <a:prstGeom prst="rect">
            <a:avLst/>
          </a:prstGeom>
          <a:solidFill>
            <a:srgbClr val="F5FAFA"/>
          </a:solidFill>
          <a:ln w="12700">
            <a:solidFill>
              <a:srgbClr val="D6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DA8BB1-7153-6965-B316-1DF6C509D6A8}"/>
              </a:ext>
            </a:extLst>
          </p:cNvPr>
          <p:cNvSpPr txBox="1"/>
          <p:nvPr/>
        </p:nvSpPr>
        <p:spPr>
          <a:xfrm>
            <a:off x="736600" y="1981200"/>
            <a:ext cx="1752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200" b="1">
                <a:solidFill>
                  <a:srgbClr val="008C9E"/>
                </a:solidFill>
                <a:latin typeface="Aptos" panose="020B0004020202020204" pitchFamily="34" charset="0"/>
              </a:rPr>
              <a:t>3-5 mm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FA3C80-2EB7-855D-302A-3D72515F864B}"/>
              </a:ext>
            </a:extLst>
          </p:cNvPr>
          <p:cNvSpPr txBox="1"/>
          <p:nvPr/>
        </p:nvSpPr>
        <p:spPr>
          <a:xfrm>
            <a:off x="736600" y="2590800"/>
            <a:ext cx="1752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300">
                <a:solidFill>
                  <a:srgbClr val="384848"/>
                </a:solidFill>
                <a:latin typeface="Aptos" panose="020B0004020202020204" pitchFamily="34" charset="0"/>
              </a:rPr>
              <a:t>typical pre-production pellet size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89E409-3878-9A43-3C89-1ED94237993F}"/>
              </a:ext>
            </a:extLst>
          </p:cNvPr>
          <p:cNvSpPr/>
          <p:nvPr/>
        </p:nvSpPr>
        <p:spPr>
          <a:xfrm>
            <a:off x="2946400" y="1803400"/>
            <a:ext cx="2159000" cy="1498600"/>
          </a:xfrm>
          <a:prstGeom prst="rect">
            <a:avLst/>
          </a:prstGeom>
          <a:solidFill>
            <a:srgbClr val="F5FAFA"/>
          </a:solidFill>
          <a:ln w="12700">
            <a:solidFill>
              <a:srgbClr val="D6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0A8900-053E-4492-619E-1641A485C388}"/>
              </a:ext>
            </a:extLst>
          </p:cNvPr>
          <p:cNvSpPr txBox="1"/>
          <p:nvPr/>
        </p:nvSpPr>
        <p:spPr>
          <a:xfrm>
            <a:off x="3149600" y="1981200"/>
            <a:ext cx="1752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200" b="1">
                <a:solidFill>
                  <a:srgbClr val="FF6B35"/>
                </a:solidFill>
                <a:latin typeface="Aptos" panose="020B0004020202020204" pitchFamily="34" charset="0"/>
              </a:rPr>
              <a:t>Real time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33DB01-C232-3B18-CBD2-E5688CCBB9F0}"/>
              </a:ext>
            </a:extLst>
          </p:cNvPr>
          <p:cNvSpPr txBox="1"/>
          <p:nvPr/>
        </p:nvSpPr>
        <p:spPr>
          <a:xfrm>
            <a:off x="3149600" y="2590800"/>
            <a:ext cx="1752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300">
                <a:solidFill>
                  <a:srgbClr val="384848"/>
                </a:solidFill>
                <a:latin typeface="Aptos" panose="020B0004020202020204" pitchFamily="34" charset="0"/>
              </a:rPr>
              <a:t>required before downstream spread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779AAE-332C-8A15-4B80-DB4638CDB06F}"/>
              </a:ext>
            </a:extLst>
          </p:cNvPr>
          <p:cNvSpPr/>
          <p:nvPr/>
        </p:nvSpPr>
        <p:spPr>
          <a:xfrm>
            <a:off x="5359400" y="1803400"/>
            <a:ext cx="2159000" cy="1498600"/>
          </a:xfrm>
          <a:prstGeom prst="rect">
            <a:avLst/>
          </a:prstGeom>
          <a:solidFill>
            <a:srgbClr val="F5FAFA"/>
          </a:solidFill>
          <a:ln w="12700">
            <a:solidFill>
              <a:srgbClr val="D6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0FCAB9-2C84-FCD3-A208-0424B7F8DD3A}"/>
              </a:ext>
            </a:extLst>
          </p:cNvPr>
          <p:cNvSpPr txBox="1"/>
          <p:nvPr/>
        </p:nvSpPr>
        <p:spPr>
          <a:xfrm>
            <a:off x="5562600" y="1981200"/>
            <a:ext cx="1752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200" b="1">
                <a:solidFill>
                  <a:srgbClr val="008C9E"/>
                </a:solidFill>
                <a:latin typeface="Aptos" panose="020B0004020202020204" pitchFamily="34" charset="0"/>
              </a:rPr>
              <a:t>Source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90326D-C0FE-2F3F-36A5-E867ACC741C0}"/>
              </a:ext>
            </a:extLst>
          </p:cNvPr>
          <p:cNvSpPr txBox="1"/>
          <p:nvPr/>
        </p:nvSpPr>
        <p:spPr>
          <a:xfrm>
            <a:off x="5562600" y="2590800"/>
            <a:ext cx="1752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384848"/>
                </a:solidFill>
                <a:latin typeface="Aptos" panose="020B0004020202020204" pitchFamily="34" charset="0"/>
              </a:rPr>
              <a:t>containment still works at the discharge point</a:t>
            </a:r>
            <a:endParaRPr lang="en-IN" sz="1300">
              <a:solidFill>
                <a:srgbClr val="384848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81D01C-28D3-57E6-9097-8CC73C4F9498}"/>
              </a:ext>
            </a:extLst>
          </p:cNvPr>
          <p:cNvSpPr txBox="1"/>
          <p:nvPr/>
        </p:nvSpPr>
        <p:spPr>
          <a:xfrm>
            <a:off x="533400" y="38354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222222"/>
                </a:solidFill>
                <a:latin typeface="Aptos" panose="020B0004020202020204" pitchFamily="34" charset="0"/>
              </a:rPr>
              <a:t>- Manual inspection and passive filters are too slow for active discharge streams</a:t>
            </a:r>
          </a:p>
          <a:p>
            <a:pPr>
              <a:spcAft>
                <a:spcPts val="600"/>
              </a:spcAft>
            </a:pPr>
            <a:r>
              <a:rPr lang="en-US">
                <a:solidFill>
                  <a:srgbClr val="222222"/>
                </a:solidFill>
                <a:latin typeface="Aptos" panose="020B0004020202020204" pitchFamily="34" charset="0"/>
              </a:rPr>
              <a:t>- Turbidity or particle counters confuse nurdles with bubbles, sand, and bio-particles</a:t>
            </a:r>
          </a:p>
          <a:p>
            <a:pPr>
              <a:spcAft>
                <a:spcPts val="600"/>
              </a:spcAft>
            </a:pPr>
            <a:r>
              <a:rPr lang="en-US">
                <a:solidFill>
                  <a:srgbClr val="222222"/>
                </a:solidFill>
                <a:latin typeface="Aptos" panose="020B0004020202020204" pitchFamily="34" charset="0"/>
              </a:rPr>
              <a:t>- Laboratory FTIR and Raman methods are accurate, but not inline containment systems</a:t>
            </a:r>
          </a:p>
          <a:p>
            <a:pPr>
              <a:spcAft>
                <a:spcPts val="600"/>
              </a:spcAft>
            </a:pPr>
            <a:r>
              <a:rPr lang="en-US">
                <a:solidFill>
                  <a:srgbClr val="222222"/>
                </a:solidFill>
                <a:latin typeface="Aptos" panose="020B0004020202020204" pitchFamily="34" charset="0"/>
              </a:rPr>
              <a:t>- Industrial drains may also carry VOC or hydrocarbon contamination</a:t>
            </a:r>
            <a:endParaRPr lang="en-IN">
              <a:solidFill>
                <a:srgbClr val="222222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A7D2A4-6362-8541-E6B0-6CDC24F1725F}"/>
              </a:ext>
            </a:extLst>
          </p:cNvPr>
          <p:cNvSpPr/>
          <p:nvPr/>
        </p:nvSpPr>
        <p:spPr>
          <a:xfrm>
            <a:off x="8255000" y="1714500"/>
            <a:ext cx="2794000" cy="3302000"/>
          </a:xfrm>
          <a:prstGeom prst="rect">
            <a:avLst/>
          </a:prstGeom>
          <a:solidFill>
            <a:srgbClr val="FFF7F1"/>
          </a:solidFill>
          <a:ln w="12700">
            <a:solidFill>
              <a:srgbClr val="F2C9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00E379-36C3-FD68-2771-7DD2D6A7D2BF}"/>
              </a:ext>
            </a:extLst>
          </p:cNvPr>
          <p:cNvSpPr txBox="1"/>
          <p:nvPr/>
        </p:nvSpPr>
        <p:spPr>
          <a:xfrm>
            <a:off x="8483600" y="19558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900" b="1">
                <a:solidFill>
                  <a:srgbClr val="C2501B"/>
                </a:solidFill>
                <a:latin typeface="Aptos" panose="020B0004020202020204" pitchFamily="34" charset="0"/>
              </a:rPr>
              <a:t>Core gap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4E20EF-95C6-3532-7C03-8E316BADFA18}"/>
              </a:ext>
            </a:extLst>
          </p:cNvPr>
          <p:cNvSpPr txBox="1"/>
          <p:nvPr/>
        </p:nvSpPr>
        <p:spPr>
          <a:xfrm>
            <a:off x="8483600" y="2540000"/>
            <a:ext cx="2260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>
                <a:solidFill>
                  <a:srgbClr val="3D332E"/>
                </a:solidFill>
                <a:latin typeface="Aptos" panose="020B0004020202020204" pitchFamily="34" charset="0"/>
              </a:rPr>
              <a:t>Many methods detect or document pollution after it moves. They rarely stop the flow or preserve source-level evidence.</a:t>
            </a:r>
            <a:endParaRPr lang="en-IN" sz="1600">
              <a:solidFill>
                <a:srgbClr val="3D332E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E9ECA1-EA02-955B-6780-E72A8A5FE01D}"/>
              </a:ext>
            </a:extLst>
          </p:cNvPr>
          <p:cNvSpPr txBox="1"/>
          <p:nvPr/>
        </p:nvSpPr>
        <p:spPr>
          <a:xfrm>
            <a:off x="8483600" y="4216400"/>
            <a:ext cx="2260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700" b="1">
                <a:solidFill>
                  <a:srgbClr val="C2501B"/>
                </a:solidFill>
                <a:latin typeface="Aptos" panose="020B0004020202020204" pitchFamily="34" charset="0"/>
              </a:rPr>
              <a:t>NurdleDNA targets that gap.</a:t>
            </a:r>
          </a:p>
        </p:txBody>
      </p:sp>
    </p:spTree>
    <p:extLst>
      <p:ext uri="{BB962C8B-B14F-4D97-AF65-F5344CB8AC3E}">
        <p14:creationId xmlns:p14="http://schemas.microsoft.com/office/powerpoint/2010/main" val="337075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B5B45B-C1AF-23C1-CD9A-6214C04B4C45}"/>
              </a:ext>
            </a:extLst>
          </p:cNvPr>
          <p:cNvSpPr txBox="1"/>
          <p:nvPr/>
        </p:nvSpPr>
        <p:spPr>
          <a:xfrm>
            <a:off x="533400" y="381000"/>
            <a:ext cx="1104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200" b="1">
                <a:solidFill>
                  <a:srgbClr val="101820"/>
                </a:solidFill>
                <a:latin typeface="Aptos" panose="020B0004020202020204" pitchFamily="34" charset="0"/>
              </a:rPr>
              <a:t>NurdleDNA closes the loop from detection to evidence</a:t>
            </a:r>
            <a:endParaRPr lang="en-IN" sz="3200" b="1">
              <a:solidFill>
                <a:srgbClr val="101820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05F751-BB9A-1220-2009-666CC1868CC4}"/>
              </a:ext>
            </a:extLst>
          </p:cNvPr>
          <p:cNvSpPr txBox="1"/>
          <p:nvPr/>
        </p:nvSpPr>
        <p:spPr>
          <a:xfrm>
            <a:off x="533400" y="1397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4E5F5F"/>
                </a:solidFill>
                <a:latin typeface="Aptos" panose="020B0004020202020204" pitchFamily="34" charset="0"/>
              </a:rPr>
              <a:t>The system couples AI perception with deterministic actuation and cloud logging.</a:t>
            </a:r>
            <a:endParaRPr lang="en-IN" sz="1400">
              <a:solidFill>
                <a:srgbClr val="4E5F5F"/>
              </a:solidFill>
              <a:latin typeface="Aptos" panose="020B00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F938B66-6B93-8A56-5E53-03D6EE06B511}"/>
              </a:ext>
            </a:extLst>
          </p:cNvPr>
          <p:cNvCxnSpPr/>
          <p:nvPr/>
        </p:nvCxnSpPr>
        <p:spPr>
          <a:xfrm>
            <a:off x="533400" y="6350000"/>
            <a:ext cx="11125200" cy="0"/>
          </a:xfrm>
          <a:prstGeom prst="line">
            <a:avLst/>
          </a:prstGeom>
          <a:ln w="15240">
            <a:solidFill>
              <a:srgbClr val="D2D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200709C-9B98-DF02-8C3F-C45B483521CD}"/>
              </a:ext>
            </a:extLst>
          </p:cNvPr>
          <p:cNvSpPr txBox="1"/>
          <p:nvPr/>
        </p:nvSpPr>
        <p:spPr>
          <a:xfrm>
            <a:off x="533400" y="65024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ICSIMA2026 backup video | NurdleDNA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FB88C3-95DD-66E0-4861-7FC3A159FC5F}"/>
              </a:ext>
            </a:extLst>
          </p:cNvPr>
          <p:cNvSpPr txBox="1"/>
          <p:nvPr/>
        </p:nvSpPr>
        <p:spPr>
          <a:xfrm>
            <a:off x="10795000" y="6502400"/>
            <a:ext cx="86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3 / 12</a:t>
            </a:r>
          </a:p>
        </p:txBody>
      </p:sp>
      <p:pic>
        <p:nvPicPr>
          <p:cNvPr id="8" name="Picture 7" descr="System architecture diagram showing wet and dry paths">
            <a:extLst>
              <a:ext uri="{FF2B5EF4-FFF2-40B4-BE49-F238E27FC236}">
                <a16:creationId xmlns:a16="http://schemas.microsoft.com/office/drawing/2014/main" id="{24D22BE4-5C99-9A26-044A-335FFC3C5FA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1809173"/>
            <a:ext cx="4978400" cy="362065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200F3BB-3091-542A-7507-5683709A7000}"/>
              </a:ext>
            </a:extLst>
          </p:cNvPr>
          <p:cNvSpPr/>
          <p:nvPr/>
        </p:nvSpPr>
        <p:spPr>
          <a:xfrm>
            <a:off x="6324600" y="2032000"/>
            <a:ext cx="787400" cy="736600"/>
          </a:xfrm>
          <a:prstGeom prst="rect">
            <a:avLst/>
          </a:prstGeom>
          <a:solidFill>
            <a:srgbClr val="EAF7F7"/>
          </a:solidFill>
          <a:ln w="12700">
            <a:solidFill>
              <a:srgbClr val="BF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F15F0F-879E-4E2A-CEDC-B2B69B5E4D77}"/>
              </a:ext>
            </a:extLst>
          </p:cNvPr>
          <p:cNvSpPr txBox="1"/>
          <p:nvPr/>
        </p:nvSpPr>
        <p:spPr>
          <a:xfrm>
            <a:off x="6388100" y="22733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1200" b="1">
                <a:solidFill>
                  <a:srgbClr val="0B5962"/>
                </a:solidFill>
                <a:latin typeface="Aptos" panose="020B0004020202020204" pitchFamily="34" charset="0"/>
              </a:rPr>
              <a:t>Detect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DA8712E-7ECB-F5BC-BD7E-1E9A266C53C9}"/>
              </a:ext>
            </a:extLst>
          </p:cNvPr>
          <p:cNvCxnSpPr/>
          <p:nvPr/>
        </p:nvCxnSpPr>
        <p:spPr>
          <a:xfrm>
            <a:off x="7112000" y="2400300"/>
            <a:ext cx="203200" cy="0"/>
          </a:xfrm>
          <a:prstGeom prst="line">
            <a:avLst/>
          </a:prstGeom>
          <a:ln w="25400">
            <a:solidFill>
              <a:srgbClr val="008C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0E68C86-45EA-D8AB-E49B-EDCA88CE79B1}"/>
              </a:ext>
            </a:extLst>
          </p:cNvPr>
          <p:cNvSpPr/>
          <p:nvPr/>
        </p:nvSpPr>
        <p:spPr>
          <a:xfrm>
            <a:off x="7315200" y="2032000"/>
            <a:ext cx="787400" cy="736600"/>
          </a:xfrm>
          <a:prstGeom prst="rect">
            <a:avLst/>
          </a:prstGeom>
          <a:solidFill>
            <a:srgbClr val="EAF7F7"/>
          </a:solidFill>
          <a:ln w="12700">
            <a:solidFill>
              <a:srgbClr val="BF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C0C14D-2ADF-9B9D-065D-AC6D150442E8}"/>
              </a:ext>
            </a:extLst>
          </p:cNvPr>
          <p:cNvSpPr txBox="1"/>
          <p:nvPr/>
        </p:nvSpPr>
        <p:spPr>
          <a:xfrm>
            <a:off x="7378700" y="22733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1200" b="1">
                <a:solidFill>
                  <a:srgbClr val="0B5962"/>
                </a:solidFill>
                <a:latin typeface="Aptos" panose="020B0004020202020204" pitchFamily="34" charset="0"/>
              </a:rPr>
              <a:t>Classify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74ABA5C-3F7C-3863-89E3-9CC98FB2395F}"/>
              </a:ext>
            </a:extLst>
          </p:cNvPr>
          <p:cNvCxnSpPr/>
          <p:nvPr/>
        </p:nvCxnSpPr>
        <p:spPr>
          <a:xfrm>
            <a:off x="8102600" y="2400300"/>
            <a:ext cx="203200" cy="0"/>
          </a:xfrm>
          <a:prstGeom prst="line">
            <a:avLst/>
          </a:prstGeom>
          <a:ln w="25400">
            <a:solidFill>
              <a:srgbClr val="008C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00C32358-356B-F653-72A6-86AAC96507FA}"/>
              </a:ext>
            </a:extLst>
          </p:cNvPr>
          <p:cNvSpPr/>
          <p:nvPr/>
        </p:nvSpPr>
        <p:spPr>
          <a:xfrm>
            <a:off x="8305800" y="2032000"/>
            <a:ext cx="787400" cy="736600"/>
          </a:xfrm>
          <a:prstGeom prst="rect">
            <a:avLst/>
          </a:prstGeom>
          <a:solidFill>
            <a:srgbClr val="EAF7F7"/>
          </a:solidFill>
          <a:ln w="12700">
            <a:solidFill>
              <a:srgbClr val="BF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A8950D-0492-19D7-0ADB-B73C158BA0E1}"/>
              </a:ext>
            </a:extLst>
          </p:cNvPr>
          <p:cNvSpPr txBox="1"/>
          <p:nvPr/>
        </p:nvSpPr>
        <p:spPr>
          <a:xfrm>
            <a:off x="8369300" y="22733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1200" b="1">
                <a:solidFill>
                  <a:srgbClr val="0B5962"/>
                </a:solidFill>
                <a:latin typeface="Aptos" panose="020B0004020202020204" pitchFamily="34" charset="0"/>
              </a:rPr>
              <a:t>Actuate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4017DC0-5E80-631C-FDBD-DAA5F64A9FD3}"/>
              </a:ext>
            </a:extLst>
          </p:cNvPr>
          <p:cNvCxnSpPr/>
          <p:nvPr/>
        </p:nvCxnSpPr>
        <p:spPr>
          <a:xfrm>
            <a:off x="9093200" y="2400300"/>
            <a:ext cx="203200" cy="0"/>
          </a:xfrm>
          <a:prstGeom prst="line">
            <a:avLst/>
          </a:prstGeom>
          <a:ln w="25400">
            <a:solidFill>
              <a:srgbClr val="008C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90034E1A-F710-A68C-F529-0AEEB2918291}"/>
              </a:ext>
            </a:extLst>
          </p:cNvPr>
          <p:cNvSpPr/>
          <p:nvPr/>
        </p:nvSpPr>
        <p:spPr>
          <a:xfrm>
            <a:off x="9296400" y="2032000"/>
            <a:ext cx="787400" cy="736600"/>
          </a:xfrm>
          <a:prstGeom prst="rect">
            <a:avLst/>
          </a:prstGeom>
          <a:solidFill>
            <a:srgbClr val="EAF7F7"/>
          </a:solidFill>
          <a:ln w="12700">
            <a:solidFill>
              <a:srgbClr val="BF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BF7E83-FCF6-53FD-22DC-306306B2A88D}"/>
              </a:ext>
            </a:extLst>
          </p:cNvPr>
          <p:cNvSpPr txBox="1"/>
          <p:nvPr/>
        </p:nvSpPr>
        <p:spPr>
          <a:xfrm>
            <a:off x="9359900" y="22733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1200" b="1">
                <a:solidFill>
                  <a:srgbClr val="0B5962"/>
                </a:solidFill>
                <a:latin typeface="Aptos" panose="020B0004020202020204" pitchFamily="34" charset="0"/>
              </a:rPr>
              <a:t>Capture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BE8FB9E-2FD5-40E9-FD45-A3A4A31F64F7}"/>
              </a:ext>
            </a:extLst>
          </p:cNvPr>
          <p:cNvCxnSpPr/>
          <p:nvPr/>
        </p:nvCxnSpPr>
        <p:spPr>
          <a:xfrm>
            <a:off x="10083800" y="2400300"/>
            <a:ext cx="203200" cy="0"/>
          </a:xfrm>
          <a:prstGeom prst="line">
            <a:avLst/>
          </a:prstGeom>
          <a:ln w="25400">
            <a:solidFill>
              <a:srgbClr val="008C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EDCFFDDC-3CBB-31B8-90C1-F70CFE926B7A}"/>
              </a:ext>
            </a:extLst>
          </p:cNvPr>
          <p:cNvSpPr/>
          <p:nvPr/>
        </p:nvSpPr>
        <p:spPr>
          <a:xfrm>
            <a:off x="10287000" y="2032000"/>
            <a:ext cx="787400" cy="736600"/>
          </a:xfrm>
          <a:prstGeom prst="rect">
            <a:avLst/>
          </a:prstGeom>
          <a:solidFill>
            <a:srgbClr val="EAF7F7"/>
          </a:solidFill>
          <a:ln w="12700">
            <a:solidFill>
              <a:srgbClr val="BF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6089A0-6415-A9A1-D928-A3E99B2F590F}"/>
              </a:ext>
            </a:extLst>
          </p:cNvPr>
          <p:cNvSpPr txBox="1"/>
          <p:nvPr/>
        </p:nvSpPr>
        <p:spPr>
          <a:xfrm>
            <a:off x="10350500" y="22733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1200" b="1">
                <a:solidFill>
                  <a:srgbClr val="0B5962"/>
                </a:solidFill>
                <a:latin typeface="Aptos" panose="020B0004020202020204" pitchFamily="34" charset="0"/>
              </a:rPr>
              <a:t>Log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69255E-24BD-BDF9-2D22-9A5B80C204F4}"/>
              </a:ext>
            </a:extLst>
          </p:cNvPr>
          <p:cNvSpPr txBox="1"/>
          <p:nvPr/>
        </p:nvSpPr>
        <p:spPr>
          <a:xfrm>
            <a:off x="6350000" y="3327400"/>
            <a:ext cx="495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IN" sz="1700">
                <a:solidFill>
                  <a:srgbClr val="222222"/>
                </a:solidFill>
                <a:latin typeface="Aptos" panose="020B0004020202020204" pitchFamily="34" charset="0"/>
              </a:rPr>
              <a:t>- Camera and optical chamber detect candidate pellets</a:t>
            </a:r>
          </a:p>
          <a:p>
            <a:pPr>
              <a:spcAft>
                <a:spcPts val="600"/>
              </a:spcAft>
            </a:pPr>
            <a:r>
              <a:rPr lang="en-IN" sz="1700">
                <a:solidFill>
                  <a:srgbClr val="222222"/>
                </a:solidFill>
                <a:latin typeface="Aptos" panose="020B0004020202020204" pitchFamily="34" charset="0"/>
              </a:rPr>
              <a:t>- LDR, MQ-135, and temporal logic validate the hazard</a:t>
            </a:r>
          </a:p>
          <a:p>
            <a:pPr>
              <a:spcAft>
                <a:spcPts val="600"/>
              </a:spcAft>
            </a:pPr>
            <a:r>
              <a:rPr lang="en-IN" sz="1700">
                <a:solidFill>
                  <a:srgbClr val="222222"/>
                </a:solidFill>
                <a:latin typeface="Aptos" panose="020B0004020202020204" pitchFamily="34" charset="0"/>
              </a:rPr>
              <a:t>- Arduino FSM closes the servo pinch valve during alarm</a:t>
            </a:r>
          </a:p>
          <a:p>
            <a:pPr>
              <a:spcAft>
                <a:spcPts val="600"/>
              </a:spcAft>
            </a:pPr>
            <a:r>
              <a:rPr lang="en-IN" sz="1700">
                <a:solidFill>
                  <a:srgbClr val="222222"/>
                </a:solidFill>
                <a:latin typeface="Aptos" panose="020B0004020202020204" pitchFamily="34" charset="0"/>
              </a:rPr>
              <a:t>- Load cell measures captured evidence while Firebase stores the event</a:t>
            </a:r>
          </a:p>
        </p:txBody>
      </p:sp>
    </p:spTree>
    <p:extLst>
      <p:ext uri="{BB962C8B-B14F-4D97-AF65-F5344CB8AC3E}">
        <p14:creationId xmlns:p14="http://schemas.microsoft.com/office/powerpoint/2010/main" val="1520317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A6D5D5-A2CA-C3F8-2844-374B6DB90350}"/>
              </a:ext>
            </a:extLst>
          </p:cNvPr>
          <p:cNvSpPr txBox="1"/>
          <p:nvPr/>
        </p:nvSpPr>
        <p:spPr>
          <a:xfrm>
            <a:off x="533400" y="381000"/>
            <a:ext cx="1104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200" b="1">
                <a:solidFill>
                  <a:srgbClr val="101820"/>
                </a:solidFill>
                <a:latin typeface="Aptos" panose="020B0004020202020204" pitchFamily="34" charset="0"/>
              </a:rPr>
              <a:t>The prototype separates probabilistic AI from safety control</a:t>
            </a:r>
            <a:endParaRPr lang="en-IN" sz="3200" b="1">
              <a:solidFill>
                <a:srgbClr val="101820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F90F0F-497B-E6E1-95A6-90F859328462}"/>
              </a:ext>
            </a:extLst>
          </p:cNvPr>
          <p:cNvSpPr txBox="1"/>
          <p:nvPr/>
        </p:nvSpPr>
        <p:spPr>
          <a:xfrm>
            <a:off x="533400" y="1397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4E5F5F"/>
                </a:solidFill>
                <a:latin typeface="Aptos" panose="020B0004020202020204" pitchFamily="34" charset="0"/>
              </a:rPr>
              <a:t>Jetson handles inference and cloud publishing; Arduino owns deterministic containment.</a:t>
            </a:r>
            <a:endParaRPr lang="en-IN" sz="1400">
              <a:solidFill>
                <a:srgbClr val="4E5F5F"/>
              </a:solidFill>
              <a:latin typeface="Aptos" panose="020B00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56E6EF2-FB3F-6B60-E247-830EE7D28B04}"/>
              </a:ext>
            </a:extLst>
          </p:cNvPr>
          <p:cNvCxnSpPr/>
          <p:nvPr/>
        </p:nvCxnSpPr>
        <p:spPr>
          <a:xfrm>
            <a:off x="533400" y="6350000"/>
            <a:ext cx="11125200" cy="0"/>
          </a:xfrm>
          <a:prstGeom prst="line">
            <a:avLst/>
          </a:prstGeom>
          <a:ln w="15240">
            <a:solidFill>
              <a:srgbClr val="D2D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7711A0D-16A0-3821-953E-0ADC671B41B7}"/>
              </a:ext>
            </a:extLst>
          </p:cNvPr>
          <p:cNvSpPr txBox="1"/>
          <p:nvPr/>
        </p:nvSpPr>
        <p:spPr>
          <a:xfrm>
            <a:off x="533400" y="65024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ICSIMA2026 backup video | NurdleDNA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6EA501-E2D0-7C05-E882-9927CE04E434}"/>
              </a:ext>
            </a:extLst>
          </p:cNvPr>
          <p:cNvSpPr txBox="1"/>
          <p:nvPr/>
        </p:nvSpPr>
        <p:spPr>
          <a:xfrm>
            <a:off x="10795000" y="6502400"/>
            <a:ext cx="86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4 / 12</a:t>
            </a:r>
          </a:p>
        </p:txBody>
      </p:sp>
      <p:pic>
        <p:nvPicPr>
          <p:cNvPr id="8" name="Picture 7" descr="Assembled NurdleDNA prototype with supporting visualizations">
            <a:extLst>
              <a:ext uri="{FF2B5EF4-FFF2-40B4-BE49-F238E27FC236}">
                <a16:creationId xmlns:a16="http://schemas.microsoft.com/office/drawing/2014/main" id="{5DBD287F-B5C1-C1A6-5F8B-FF66FF5BD96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1995880"/>
            <a:ext cx="4978400" cy="1291440"/>
          </a:xfrm>
          <a:prstGeom prst="rect">
            <a:avLst/>
          </a:prstGeom>
        </p:spPr>
      </p:pic>
      <p:pic>
        <p:nvPicPr>
          <p:cNvPr id="10" name="Picture 9" descr="Full system architecture from the accepted paper">
            <a:extLst>
              <a:ext uri="{FF2B5EF4-FFF2-40B4-BE49-F238E27FC236}">
                <a16:creationId xmlns:a16="http://schemas.microsoft.com/office/drawing/2014/main" id="{E4ACA990-FFB4-7CC0-803B-FC57BD355BB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337" y="3810000"/>
            <a:ext cx="2699026" cy="1981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485AB51-1DB8-3CE1-6823-FD848C54FECC}"/>
              </a:ext>
            </a:extLst>
          </p:cNvPr>
          <p:cNvSpPr/>
          <p:nvPr/>
        </p:nvSpPr>
        <p:spPr>
          <a:xfrm>
            <a:off x="6248400" y="1752600"/>
            <a:ext cx="2159000" cy="3175000"/>
          </a:xfrm>
          <a:prstGeom prst="rect">
            <a:avLst/>
          </a:prstGeom>
          <a:solidFill>
            <a:srgbClr val="F5FAFA"/>
          </a:solidFill>
          <a:ln w="12700">
            <a:solidFill>
              <a:srgbClr val="D6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F01070-2538-936D-D3FC-4E6DB69320D5}"/>
              </a:ext>
            </a:extLst>
          </p:cNvPr>
          <p:cNvSpPr txBox="1"/>
          <p:nvPr/>
        </p:nvSpPr>
        <p:spPr>
          <a:xfrm>
            <a:off x="6477000" y="19812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2000" b="1">
                <a:solidFill>
                  <a:srgbClr val="008C9E"/>
                </a:solidFill>
                <a:latin typeface="Aptos" panose="020B0004020202020204" pitchFamily="34" charset="0"/>
              </a:rPr>
              <a:t>Jetson Nano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D5A5FC-8D50-4450-8CA7-78B23AFCD1FB}"/>
              </a:ext>
            </a:extLst>
          </p:cNvPr>
          <p:cNvSpPr txBox="1"/>
          <p:nvPr/>
        </p:nvSpPr>
        <p:spPr>
          <a:xfrm>
            <a:off x="6477000" y="25654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500">
                <a:solidFill>
                  <a:srgbClr val="222222"/>
                </a:solidFill>
                <a:latin typeface="Aptos" panose="020B0004020202020204" pitchFamily="34" charset="0"/>
              </a:rPr>
              <a:t>- YOLOv8n and OpenCV</a:t>
            </a:r>
          </a:p>
          <a:p>
            <a:pPr>
              <a:spcAft>
                <a:spcPts val="600"/>
              </a:spcAft>
            </a:pPr>
            <a:r>
              <a:rPr lang="en-US" sz="1500">
                <a:solidFill>
                  <a:srgbClr val="222222"/>
                </a:solidFill>
                <a:latin typeface="Aptos" panose="020B0004020202020204" pitchFamily="34" charset="0"/>
              </a:rPr>
              <a:t>- JPEG evidence frame</a:t>
            </a:r>
          </a:p>
          <a:p>
            <a:pPr>
              <a:spcAft>
                <a:spcPts val="600"/>
              </a:spcAft>
            </a:pPr>
            <a:r>
              <a:rPr lang="en-US" sz="1500">
                <a:solidFill>
                  <a:srgbClr val="222222"/>
                </a:solidFill>
                <a:latin typeface="Aptos" panose="020B0004020202020204" pitchFamily="34" charset="0"/>
              </a:rPr>
              <a:t>- Firebase publish</a:t>
            </a:r>
          </a:p>
          <a:p>
            <a:pPr>
              <a:spcAft>
                <a:spcPts val="600"/>
              </a:spcAft>
            </a:pPr>
            <a:r>
              <a:rPr lang="en-US" sz="1500">
                <a:solidFill>
                  <a:srgbClr val="222222"/>
                </a:solidFill>
                <a:latin typeface="Aptos" panose="020B0004020202020204" pitchFamily="34" charset="0"/>
              </a:rPr>
              <a:t>- Dashboard feed</a:t>
            </a:r>
            <a:endParaRPr lang="en-IN" sz="1500">
              <a:solidFill>
                <a:srgbClr val="222222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CAD6FE-649F-5A6E-E739-4A4F6975291F}"/>
              </a:ext>
            </a:extLst>
          </p:cNvPr>
          <p:cNvSpPr/>
          <p:nvPr/>
        </p:nvSpPr>
        <p:spPr>
          <a:xfrm>
            <a:off x="8788400" y="1752600"/>
            <a:ext cx="2159000" cy="3175000"/>
          </a:xfrm>
          <a:prstGeom prst="rect">
            <a:avLst/>
          </a:prstGeom>
          <a:solidFill>
            <a:srgbClr val="FFF7F1"/>
          </a:solidFill>
          <a:ln w="12700">
            <a:solidFill>
              <a:srgbClr val="F2C9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981C30-C8A8-E0EB-340E-D37927F0C8D1}"/>
              </a:ext>
            </a:extLst>
          </p:cNvPr>
          <p:cNvSpPr txBox="1"/>
          <p:nvPr/>
        </p:nvSpPr>
        <p:spPr>
          <a:xfrm>
            <a:off x="9017000" y="19812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2000" b="1">
                <a:solidFill>
                  <a:srgbClr val="C2501B"/>
                </a:solidFill>
                <a:latin typeface="Aptos" panose="020B0004020202020204" pitchFamily="34" charset="0"/>
              </a:rPr>
              <a:t>Arduino Uno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7076E8-17A9-5D5F-00E0-26DE06A148F2}"/>
              </a:ext>
            </a:extLst>
          </p:cNvPr>
          <p:cNvSpPr txBox="1"/>
          <p:nvPr/>
        </p:nvSpPr>
        <p:spPr>
          <a:xfrm>
            <a:off x="9017000" y="25654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500">
                <a:solidFill>
                  <a:srgbClr val="222222"/>
                </a:solidFill>
                <a:latin typeface="Aptos" panose="020B0004020202020204" pitchFamily="34" charset="0"/>
              </a:rPr>
              <a:t>- LDR and MQ-135</a:t>
            </a:r>
          </a:p>
          <a:p>
            <a:pPr>
              <a:spcAft>
                <a:spcPts val="600"/>
              </a:spcAft>
            </a:pPr>
            <a:r>
              <a:rPr lang="en-US" sz="1500">
                <a:solidFill>
                  <a:srgbClr val="222222"/>
                </a:solidFill>
                <a:latin typeface="Aptos" panose="020B0004020202020204" pitchFamily="34" charset="0"/>
              </a:rPr>
              <a:t>- Load cell via HX711</a:t>
            </a:r>
          </a:p>
          <a:p>
            <a:pPr>
              <a:spcAft>
                <a:spcPts val="600"/>
              </a:spcAft>
            </a:pPr>
            <a:r>
              <a:rPr lang="en-US" sz="1500">
                <a:solidFill>
                  <a:srgbClr val="222222"/>
                </a:solidFill>
                <a:latin typeface="Aptos" panose="020B0004020202020204" pitchFamily="34" charset="0"/>
              </a:rPr>
              <a:t>- Moore FSM</a:t>
            </a:r>
          </a:p>
          <a:p>
            <a:pPr>
              <a:spcAft>
                <a:spcPts val="600"/>
              </a:spcAft>
            </a:pPr>
            <a:r>
              <a:rPr lang="en-US" sz="1500">
                <a:solidFill>
                  <a:srgbClr val="222222"/>
                </a:solidFill>
                <a:latin typeface="Aptos" panose="020B0004020202020204" pitchFamily="34" charset="0"/>
              </a:rPr>
              <a:t>- Servo pinch valve</a:t>
            </a:r>
            <a:endParaRPr lang="en-IN" sz="1500">
              <a:solidFill>
                <a:srgbClr val="222222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B7BC7A-8022-FD85-4DB0-E9CEF538CFAC}"/>
              </a:ext>
            </a:extLst>
          </p:cNvPr>
          <p:cNvSpPr txBox="1"/>
          <p:nvPr/>
        </p:nvSpPr>
        <p:spPr>
          <a:xfrm>
            <a:off x="6248400" y="5232400"/>
            <a:ext cx="469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>
                <a:solidFill>
                  <a:srgbClr val="303A3A"/>
                </a:solidFill>
                <a:latin typeface="Aptos" panose="020B0004020202020204" pitchFamily="34" charset="0"/>
              </a:rPr>
              <a:t>Design intent: if AI confidence is uncertain or cloud connectivity fails, physical containment still remains under deterministic local control.</a:t>
            </a:r>
            <a:endParaRPr lang="en-IN" sz="1600">
              <a:solidFill>
                <a:srgbClr val="303A3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2066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53E349-65A1-06B8-9626-8A209C5FCC00}"/>
              </a:ext>
            </a:extLst>
          </p:cNvPr>
          <p:cNvSpPr txBox="1"/>
          <p:nvPr/>
        </p:nvSpPr>
        <p:spPr>
          <a:xfrm>
            <a:off x="533400" y="381000"/>
            <a:ext cx="1104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200" b="1">
                <a:solidFill>
                  <a:srgbClr val="101820"/>
                </a:solidFill>
                <a:latin typeface="Aptos" panose="020B0004020202020204" pitchFamily="34" charset="0"/>
              </a:rPr>
              <a:t>The vision model is useful, but it is not trusted alone</a:t>
            </a:r>
            <a:endParaRPr lang="en-IN" sz="3200" b="1">
              <a:solidFill>
                <a:srgbClr val="101820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67F505-C631-F22B-ABFD-A135736230FB}"/>
              </a:ext>
            </a:extLst>
          </p:cNvPr>
          <p:cNvSpPr txBox="1"/>
          <p:nvPr/>
        </p:nvSpPr>
        <p:spPr>
          <a:xfrm>
            <a:off x="533400" y="1397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4E5F5F"/>
                </a:solidFill>
                <a:latin typeface="Aptos" panose="020B0004020202020204" pitchFamily="34" charset="0"/>
              </a:rPr>
              <a:t>The paper treats YOLO as one probabilistic signal inside a wider sensor-fusion decision.</a:t>
            </a:r>
            <a:endParaRPr lang="en-IN" sz="1400">
              <a:solidFill>
                <a:srgbClr val="4E5F5F"/>
              </a:solidFill>
              <a:latin typeface="Aptos" panose="020B00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A3AE023-4E02-2137-D6A4-63A90B560ED3}"/>
              </a:ext>
            </a:extLst>
          </p:cNvPr>
          <p:cNvCxnSpPr/>
          <p:nvPr/>
        </p:nvCxnSpPr>
        <p:spPr>
          <a:xfrm>
            <a:off x="533400" y="6350000"/>
            <a:ext cx="11125200" cy="0"/>
          </a:xfrm>
          <a:prstGeom prst="line">
            <a:avLst/>
          </a:prstGeom>
          <a:ln w="15240">
            <a:solidFill>
              <a:srgbClr val="D2D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A275B74-E289-AF5F-7DC5-AD209D9FF3BD}"/>
              </a:ext>
            </a:extLst>
          </p:cNvPr>
          <p:cNvSpPr txBox="1"/>
          <p:nvPr/>
        </p:nvSpPr>
        <p:spPr>
          <a:xfrm>
            <a:off x="533400" y="65024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ICSIMA2026 backup video | NurdleDNA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7588F3-3329-90AC-696A-F86F216DD05E}"/>
              </a:ext>
            </a:extLst>
          </p:cNvPr>
          <p:cNvSpPr txBox="1"/>
          <p:nvPr/>
        </p:nvSpPr>
        <p:spPr>
          <a:xfrm>
            <a:off x="10795000" y="6502400"/>
            <a:ext cx="86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5 / 12</a:t>
            </a:r>
          </a:p>
        </p:txBody>
      </p:sp>
      <p:pic>
        <p:nvPicPr>
          <p:cNvPr id="8" name="Picture 7" descr="YOLOv8n detection output in the optical flow cell">
            <a:extLst>
              <a:ext uri="{FF2B5EF4-FFF2-40B4-BE49-F238E27FC236}">
                <a16:creationId xmlns:a16="http://schemas.microsoft.com/office/drawing/2014/main" id="{7FDD7231-5718-C40F-4765-C07571E1013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638" y="1752600"/>
            <a:ext cx="3511324" cy="2870200"/>
          </a:xfrm>
          <a:prstGeom prst="rect">
            <a:avLst/>
          </a:prstGeom>
        </p:spPr>
      </p:pic>
      <p:pic>
        <p:nvPicPr>
          <p:cNvPr id="10" name="Picture 9" descr="YOLOv8n validation metrics over 25 epochs">
            <a:extLst>
              <a:ext uri="{FF2B5EF4-FFF2-40B4-BE49-F238E27FC236}">
                <a16:creationId xmlns:a16="http://schemas.microsoft.com/office/drawing/2014/main" id="{FEC520FD-CCC2-E98E-3D6F-54FC8FDEA06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884" y="1752600"/>
            <a:ext cx="3174033" cy="2209800"/>
          </a:xfrm>
          <a:prstGeom prst="rect">
            <a:avLst/>
          </a:prstGeom>
        </p:spPr>
      </p:pic>
      <p:pic>
        <p:nvPicPr>
          <p:cNvPr id="12" name="Picture 11" descr="Per-class detection accuracy chart">
            <a:extLst>
              <a:ext uri="{FF2B5EF4-FFF2-40B4-BE49-F238E27FC236}">
                <a16:creationId xmlns:a16="http://schemas.microsoft.com/office/drawing/2014/main" id="{D94C3A91-FCAF-A08E-2E0B-8A9B75F8FF0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0" y="1757363"/>
            <a:ext cx="2997200" cy="280987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B6D673D-73CC-87DE-85D2-D8F328682DF6}"/>
              </a:ext>
            </a:extLst>
          </p:cNvPr>
          <p:cNvSpPr/>
          <p:nvPr/>
        </p:nvSpPr>
        <p:spPr>
          <a:xfrm>
            <a:off x="4724400" y="4317999"/>
            <a:ext cx="2006600" cy="1529779"/>
          </a:xfrm>
          <a:prstGeom prst="rect">
            <a:avLst/>
          </a:prstGeom>
          <a:solidFill>
            <a:srgbClr val="F5FAFA"/>
          </a:solidFill>
          <a:ln w="12700">
            <a:solidFill>
              <a:srgbClr val="D6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6C8DAA-7749-13B6-14AA-ACAB3E928C86}"/>
              </a:ext>
            </a:extLst>
          </p:cNvPr>
          <p:cNvSpPr txBox="1"/>
          <p:nvPr/>
        </p:nvSpPr>
        <p:spPr>
          <a:xfrm>
            <a:off x="4927600" y="4495800"/>
            <a:ext cx="1549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200" b="1">
                <a:solidFill>
                  <a:srgbClr val="008C9E"/>
                </a:solidFill>
                <a:latin typeface="Aptos" panose="020B0004020202020204" pitchFamily="34" charset="0"/>
              </a:rPr>
              <a:t>0.31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1A576A-8417-1ABF-2FAD-6483CD6A7E7F}"/>
              </a:ext>
            </a:extLst>
          </p:cNvPr>
          <p:cNvSpPr txBox="1"/>
          <p:nvPr/>
        </p:nvSpPr>
        <p:spPr>
          <a:xfrm>
            <a:off x="4927600" y="5105400"/>
            <a:ext cx="1549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384848"/>
                </a:solidFill>
                <a:latin typeface="Aptos" panose="020B0004020202020204" pitchFamily="34" charset="0"/>
              </a:rPr>
              <a:t>overall mAP@50 on the public validation split</a:t>
            </a:r>
            <a:endParaRPr lang="en-IN" sz="1300">
              <a:solidFill>
                <a:srgbClr val="384848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E9F6FC-A92C-B234-76DC-BA24788427E1}"/>
              </a:ext>
            </a:extLst>
          </p:cNvPr>
          <p:cNvSpPr/>
          <p:nvPr/>
        </p:nvSpPr>
        <p:spPr>
          <a:xfrm>
            <a:off x="6934200" y="4317999"/>
            <a:ext cx="2006600" cy="1529775"/>
          </a:xfrm>
          <a:prstGeom prst="rect">
            <a:avLst/>
          </a:prstGeom>
          <a:solidFill>
            <a:srgbClr val="F5FAFA"/>
          </a:solidFill>
          <a:ln w="12700">
            <a:solidFill>
              <a:srgbClr val="D6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7C9564-4359-607A-7AFA-79C457674A70}"/>
              </a:ext>
            </a:extLst>
          </p:cNvPr>
          <p:cNvSpPr txBox="1"/>
          <p:nvPr/>
        </p:nvSpPr>
        <p:spPr>
          <a:xfrm>
            <a:off x="7137400" y="4495800"/>
            <a:ext cx="1549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200" b="1">
                <a:solidFill>
                  <a:srgbClr val="008C9E"/>
                </a:solidFill>
                <a:latin typeface="Aptos" panose="020B0004020202020204" pitchFamily="34" charset="0"/>
              </a:rPr>
              <a:t>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FB0428-1BCE-1E41-09E4-9F9199A8DBFC}"/>
              </a:ext>
            </a:extLst>
          </p:cNvPr>
          <p:cNvSpPr txBox="1"/>
          <p:nvPr/>
        </p:nvSpPr>
        <p:spPr>
          <a:xfrm>
            <a:off x="7137400" y="5105400"/>
            <a:ext cx="1549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300">
                <a:solidFill>
                  <a:srgbClr val="384848"/>
                </a:solidFill>
                <a:latin typeface="Aptos" panose="020B0004020202020204" pitchFamily="34" charset="0"/>
              </a:rPr>
              <a:t>training epochs on YOLOv8n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46D1B4-E4BE-C14A-0AB8-52C41BABECC3}"/>
              </a:ext>
            </a:extLst>
          </p:cNvPr>
          <p:cNvSpPr/>
          <p:nvPr/>
        </p:nvSpPr>
        <p:spPr>
          <a:xfrm>
            <a:off x="9152517" y="4603024"/>
            <a:ext cx="1955800" cy="1270000"/>
          </a:xfrm>
          <a:prstGeom prst="rect">
            <a:avLst/>
          </a:prstGeom>
          <a:solidFill>
            <a:srgbClr val="F5FAFA"/>
          </a:solidFill>
          <a:ln w="12700">
            <a:solidFill>
              <a:srgbClr val="D6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EF00F9-7043-5C9C-51BE-546D64E495C1}"/>
              </a:ext>
            </a:extLst>
          </p:cNvPr>
          <p:cNvSpPr txBox="1"/>
          <p:nvPr/>
        </p:nvSpPr>
        <p:spPr>
          <a:xfrm>
            <a:off x="9347200" y="4621906"/>
            <a:ext cx="1549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200" b="1" dirty="0">
                <a:solidFill>
                  <a:srgbClr val="FF6B35"/>
                </a:solidFill>
                <a:latin typeface="Aptos" panose="020B0004020202020204" pitchFamily="34" charset="0"/>
              </a:rPr>
              <a:t>19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248443-738D-1978-7817-EF79434A20C6}"/>
              </a:ext>
            </a:extLst>
          </p:cNvPr>
          <p:cNvSpPr txBox="1"/>
          <p:nvPr/>
        </p:nvSpPr>
        <p:spPr>
          <a:xfrm>
            <a:off x="9347200" y="5105400"/>
            <a:ext cx="1549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384848"/>
                </a:solidFill>
                <a:latin typeface="Aptos" panose="020B0004020202020204" pitchFamily="34" charset="0"/>
              </a:rPr>
              <a:t>public dataset classes, with severe imbalance</a:t>
            </a:r>
            <a:endParaRPr lang="en-IN" sz="1300">
              <a:solidFill>
                <a:srgbClr val="384848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619EF5-CB85-DD36-FA79-AE49C8B78386}"/>
              </a:ext>
            </a:extLst>
          </p:cNvPr>
          <p:cNvSpPr txBox="1"/>
          <p:nvPr/>
        </p:nvSpPr>
        <p:spPr>
          <a:xfrm>
            <a:off x="330200" y="4932402"/>
            <a:ext cx="444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dirty="0">
                <a:solidFill>
                  <a:srgbClr val="303A3A"/>
                </a:solidFill>
                <a:latin typeface="Aptos" panose="020B0004020202020204" pitchFamily="34" charset="0"/>
              </a:rPr>
              <a:t>Interpretation: AI helps find candidates, but bubbles, glare, and class imbalance require sensor confirmation.</a:t>
            </a:r>
            <a:endParaRPr lang="en-IN" sz="1500" dirty="0">
              <a:solidFill>
                <a:srgbClr val="303A3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765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341C2F-653E-9678-8F82-CFDC45ADB152}"/>
              </a:ext>
            </a:extLst>
          </p:cNvPr>
          <p:cNvSpPr txBox="1"/>
          <p:nvPr/>
        </p:nvSpPr>
        <p:spPr>
          <a:xfrm>
            <a:off x="533400" y="381000"/>
            <a:ext cx="1104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200" b="1">
                <a:solidFill>
                  <a:srgbClr val="101820"/>
                </a:solidFill>
                <a:latin typeface="Aptos" panose="020B0004020202020204" pitchFamily="34" charset="0"/>
              </a:rPr>
              <a:t>Multi-sensor confirmation suppresses false alarms</a:t>
            </a:r>
            <a:endParaRPr lang="en-IN" sz="3200" b="1">
              <a:solidFill>
                <a:srgbClr val="101820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235C9D-BAF5-2B26-DC0E-720D9DD075BE}"/>
              </a:ext>
            </a:extLst>
          </p:cNvPr>
          <p:cNvSpPr txBox="1"/>
          <p:nvPr/>
        </p:nvSpPr>
        <p:spPr>
          <a:xfrm>
            <a:off x="533400" y="1397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4E5F5F"/>
                </a:solidFill>
                <a:latin typeface="Aptos" panose="020B0004020202020204" pitchFamily="34" charset="0"/>
              </a:rPr>
              <a:t>The alarm decision requires persistence across optical, gas, and AI-derived evidence.</a:t>
            </a:r>
            <a:endParaRPr lang="en-IN" sz="1400">
              <a:solidFill>
                <a:srgbClr val="4E5F5F"/>
              </a:solidFill>
              <a:latin typeface="Aptos" panose="020B00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F642470-66F3-6318-32DA-5BF61422108A}"/>
              </a:ext>
            </a:extLst>
          </p:cNvPr>
          <p:cNvCxnSpPr/>
          <p:nvPr/>
        </p:nvCxnSpPr>
        <p:spPr>
          <a:xfrm>
            <a:off x="533400" y="6350000"/>
            <a:ext cx="11125200" cy="0"/>
          </a:xfrm>
          <a:prstGeom prst="line">
            <a:avLst/>
          </a:prstGeom>
          <a:ln w="15240">
            <a:solidFill>
              <a:srgbClr val="D2D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B21B516-7AEA-1A12-A051-CD2CD29FBDB8}"/>
              </a:ext>
            </a:extLst>
          </p:cNvPr>
          <p:cNvSpPr txBox="1"/>
          <p:nvPr/>
        </p:nvSpPr>
        <p:spPr>
          <a:xfrm>
            <a:off x="533400" y="65024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ICSIMA2026 backup video | NurdleDNA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82A721-A169-75C5-ECC3-84EF5A17CEF9}"/>
              </a:ext>
            </a:extLst>
          </p:cNvPr>
          <p:cNvSpPr txBox="1"/>
          <p:nvPr/>
        </p:nvSpPr>
        <p:spPr>
          <a:xfrm>
            <a:off x="10795000" y="6502400"/>
            <a:ext cx="86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6 / 12</a:t>
            </a:r>
          </a:p>
        </p:txBody>
      </p:sp>
      <p:pic>
        <p:nvPicPr>
          <p:cNvPr id="8" name="Picture 7" descr="FSM thresholds and confirmation windows table">
            <a:extLst>
              <a:ext uri="{FF2B5EF4-FFF2-40B4-BE49-F238E27FC236}">
                <a16:creationId xmlns:a16="http://schemas.microsoft.com/office/drawing/2014/main" id="{A6C03B4B-3D89-BF15-F8F7-8E41B402DA5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1807834"/>
            <a:ext cx="4851400" cy="15659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99821CC-0465-9D18-0BDE-4CF8F7D2A611}"/>
              </a:ext>
            </a:extLst>
          </p:cNvPr>
          <p:cNvSpPr/>
          <p:nvPr/>
        </p:nvSpPr>
        <p:spPr>
          <a:xfrm>
            <a:off x="635000" y="3835400"/>
            <a:ext cx="4851400" cy="1600200"/>
          </a:xfrm>
          <a:prstGeom prst="rect">
            <a:avLst/>
          </a:prstGeom>
          <a:solidFill>
            <a:srgbClr val="F5FAFA"/>
          </a:solidFill>
          <a:ln w="12700">
            <a:solidFill>
              <a:srgbClr val="D6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0A7FD4-A487-0E0D-D7F9-84496183E4BB}"/>
              </a:ext>
            </a:extLst>
          </p:cNvPr>
          <p:cNvSpPr txBox="1"/>
          <p:nvPr/>
        </p:nvSpPr>
        <p:spPr>
          <a:xfrm>
            <a:off x="889000" y="40894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600">
                <a:solidFill>
                  <a:srgbClr val="222222"/>
                </a:solidFill>
                <a:latin typeface="Aptos" panose="020B0004020202020204" pitchFamily="34" charset="0"/>
              </a:rPr>
              <a:t>- LDR warning threshold: above 600 ADC</a:t>
            </a:r>
          </a:p>
          <a:p>
            <a:pPr>
              <a:spcAft>
                <a:spcPts val="600"/>
              </a:spcAft>
            </a:pPr>
            <a:r>
              <a:rPr lang="en-US" sz="1600">
                <a:solidFill>
                  <a:srgbClr val="222222"/>
                </a:solidFill>
                <a:latin typeface="Aptos" panose="020B0004020202020204" pitchFamily="34" charset="0"/>
              </a:rPr>
              <a:t>- MQ-135 critical threshold: above 200 ADC</a:t>
            </a:r>
          </a:p>
          <a:p>
            <a:pPr>
              <a:spcAft>
                <a:spcPts val="600"/>
              </a:spcAft>
            </a:pPr>
            <a:r>
              <a:rPr lang="en-US" sz="1600">
                <a:solidFill>
                  <a:srgbClr val="222222"/>
                </a:solidFill>
                <a:latin typeface="Aptos" panose="020B0004020202020204" pitchFamily="34" charset="0"/>
              </a:rPr>
              <a:t>- AI warning: count &gt;= 4 for 1.5 s</a:t>
            </a:r>
          </a:p>
          <a:p>
            <a:pPr>
              <a:spcAft>
                <a:spcPts val="600"/>
              </a:spcAft>
            </a:pPr>
            <a:r>
              <a:rPr lang="en-US" sz="1600">
                <a:solidFill>
                  <a:srgbClr val="222222"/>
                </a:solidFill>
                <a:latin typeface="Aptos" panose="020B0004020202020204" pitchFamily="34" charset="0"/>
              </a:rPr>
              <a:t>- AI critical: count &gt;= 12 for 2.5 s</a:t>
            </a:r>
            <a:endParaRPr lang="en-IN" sz="1600">
              <a:solidFill>
                <a:srgbClr val="222222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83F635-D990-5DD1-750C-2913E4BD69B4}"/>
              </a:ext>
            </a:extLst>
          </p:cNvPr>
          <p:cNvSpPr/>
          <p:nvPr/>
        </p:nvSpPr>
        <p:spPr>
          <a:xfrm>
            <a:off x="6248400" y="1727200"/>
            <a:ext cx="4470400" cy="3708400"/>
          </a:xfrm>
          <a:prstGeom prst="rect">
            <a:avLst/>
          </a:prstGeom>
          <a:solidFill>
            <a:srgbClr val="FFF7F1"/>
          </a:solidFill>
          <a:ln w="12700">
            <a:solidFill>
              <a:srgbClr val="F2C9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7E2714-F7BA-70BD-93AA-C9EB6920984E}"/>
              </a:ext>
            </a:extLst>
          </p:cNvPr>
          <p:cNvSpPr txBox="1"/>
          <p:nvPr/>
        </p:nvSpPr>
        <p:spPr>
          <a:xfrm>
            <a:off x="6540500" y="20320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2200" b="1">
                <a:solidFill>
                  <a:srgbClr val="C2501B"/>
                </a:solidFill>
                <a:latin typeface="Aptos" panose="020B0004020202020204" pitchFamily="34" charset="0"/>
              </a:rPr>
              <a:t>Filtering strategy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C8609D-AB4F-78BB-3E9C-632C7DC72A58}"/>
              </a:ext>
            </a:extLst>
          </p:cNvPr>
          <p:cNvSpPr txBox="1"/>
          <p:nvPr/>
        </p:nvSpPr>
        <p:spPr>
          <a:xfrm>
            <a:off x="6540500" y="2692400"/>
            <a:ext cx="3708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700">
                <a:solidFill>
                  <a:srgbClr val="222222"/>
                </a:solidFill>
                <a:latin typeface="Aptos" panose="020B0004020202020204" pitchFamily="34" charset="0"/>
              </a:rPr>
              <a:t>- Region-of-interest masks the active frame</a:t>
            </a:r>
          </a:p>
          <a:p>
            <a:pPr>
              <a:spcAft>
                <a:spcPts val="600"/>
              </a:spcAft>
            </a:pPr>
            <a:r>
              <a:rPr lang="en-US" sz="1700">
                <a:solidFill>
                  <a:srgbClr val="222222"/>
                </a:solidFill>
                <a:latin typeface="Aptos" panose="020B0004020202020204" pitchFamily="34" charset="0"/>
              </a:rPr>
              <a:t>- Circularity filter rejects linear reflections</a:t>
            </a:r>
          </a:p>
          <a:p>
            <a:pPr>
              <a:spcAft>
                <a:spcPts val="600"/>
              </a:spcAft>
            </a:pPr>
            <a:r>
              <a:rPr lang="en-US" sz="1700">
                <a:solidFill>
                  <a:srgbClr val="222222"/>
                </a:solidFill>
                <a:latin typeface="Aptos" panose="020B0004020202020204" pitchFamily="34" charset="0"/>
              </a:rPr>
              <a:t>- EMA smoothing reduces sensor spikes</a:t>
            </a:r>
          </a:p>
          <a:p>
            <a:pPr>
              <a:spcAft>
                <a:spcPts val="600"/>
              </a:spcAft>
            </a:pPr>
            <a:r>
              <a:rPr lang="en-US" sz="1700">
                <a:solidFill>
                  <a:srgbClr val="222222"/>
                </a:solidFill>
                <a:latin typeface="Aptos" panose="020B0004020202020204" pitchFamily="34" charset="0"/>
              </a:rPr>
              <a:t>- Confirmation timers prevent single-frame alarms</a:t>
            </a:r>
            <a:endParaRPr lang="en-IN" sz="1700">
              <a:solidFill>
                <a:srgbClr val="222222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11641F-9CEA-1A04-213C-4C523550B2F7}"/>
              </a:ext>
            </a:extLst>
          </p:cNvPr>
          <p:cNvSpPr txBox="1"/>
          <p:nvPr/>
        </p:nvSpPr>
        <p:spPr>
          <a:xfrm>
            <a:off x="6540500" y="4749800"/>
            <a:ext cx="3708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3D332E"/>
                </a:solidFill>
                <a:latin typeface="Aptos" panose="020B0004020202020204" pitchFamily="34" charset="0"/>
              </a:rPr>
              <a:t>No false S3 alarms occurred before contamination was introduced.</a:t>
            </a:r>
            <a:endParaRPr lang="en-IN" sz="1500" b="1">
              <a:solidFill>
                <a:srgbClr val="3D332E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045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7B382C-8C0A-3C24-D133-618B08709F8C}"/>
              </a:ext>
            </a:extLst>
          </p:cNvPr>
          <p:cNvSpPr txBox="1"/>
          <p:nvPr/>
        </p:nvSpPr>
        <p:spPr>
          <a:xfrm>
            <a:off x="533400" y="381000"/>
            <a:ext cx="1104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200" b="1">
                <a:solidFill>
                  <a:srgbClr val="101820"/>
                </a:solidFill>
                <a:latin typeface="Aptos" panose="020B0004020202020204" pitchFamily="34" charset="0"/>
              </a:rPr>
              <a:t>The finite-state machine makes containment deterministic</a:t>
            </a:r>
            <a:endParaRPr lang="en-IN" sz="3200" b="1">
              <a:solidFill>
                <a:srgbClr val="101820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9B9339-1ECF-4997-9062-DA8972569B39}"/>
              </a:ext>
            </a:extLst>
          </p:cNvPr>
          <p:cNvSpPr txBox="1"/>
          <p:nvPr/>
        </p:nvSpPr>
        <p:spPr>
          <a:xfrm>
            <a:off x="533400" y="1397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4E5F5F"/>
                </a:solidFill>
                <a:latin typeface="Aptos" panose="020B0004020202020204" pitchFamily="34" charset="0"/>
              </a:rPr>
              <a:t>S3 alarm is latched and can only clear through an operator reset.</a:t>
            </a:r>
            <a:endParaRPr lang="en-IN" sz="1400">
              <a:solidFill>
                <a:srgbClr val="4E5F5F"/>
              </a:solidFill>
              <a:latin typeface="Aptos" panose="020B00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86D5754-8C5E-4DF4-7E29-877FA454BEAD}"/>
              </a:ext>
            </a:extLst>
          </p:cNvPr>
          <p:cNvCxnSpPr/>
          <p:nvPr/>
        </p:nvCxnSpPr>
        <p:spPr>
          <a:xfrm>
            <a:off x="533400" y="6350000"/>
            <a:ext cx="11125200" cy="0"/>
          </a:xfrm>
          <a:prstGeom prst="line">
            <a:avLst/>
          </a:prstGeom>
          <a:ln w="15240">
            <a:solidFill>
              <a:srgbClr val="D2D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89E6247-8BDA-5008-0C4C-291A4ABCBD9F}"/>
              </a:ext>
            </a:extLst>
          </p:cNvPr>
          <p:cNvSpPr txBox="1"/>
          <p:nvPr/>
        </p:nvSpPr>
        <p:spPr>
          <a:xfrm>
            <a:off x="533400" y="65024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ICSIMA2026 backup video | NurdleDNA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45BFF9-F123-EF8F-8C64-D7BD8E5754FA}"/>
              </a:ext>
            </a:extLst>
          </p:cNvPr>
          <p:cNvSpPr txBox="1"/>
          <p:nvPr/>
        </p:nvSpPr>
        <p:spPr>
          <a:xfrm>
            <a:off x="10795000" y="6502400"/>
            <a:ext cx="86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7 / 12</a:t>
            </a:r>
          </a:p>
        </p:txBody>
      </p:sp>
      <p:pic>
        <p:nvPicPr>
          <p:cNvPr id="8" name="Picture 7" descr="Five-state Moore finite-state machine for NurdleDNA actuation">
            <a:extLst>
              <a:ext uri="{FF2B5EF4-FFF2-40B4-BE49-F238E27FC236}">
                <a16:creationId xmlns:a16="http://schemas.microsoft.com/office/drawing/2014/main" id="{825F27AE-30D0-8F22-4F03-84DF4C2B34D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288" y="1676400"/>
            <a:ext cx="4996025" cy="40132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291020E-5048-28AB-38EB-7476D7DD3353}"/>
              </a:ext>
            </a:extLst>
          </p:cNvPr>
          <p:cNvSpPr/>
          <p:nvPr/>
        </p:nvSpPr>
        <p:spPr>
          <a:xfrm>
            <a:off x="6350000" y="1943100"/>
            <a:ext cx="4368800" cy="914400"/>
          </a:xfrm>
          <a:prstGeom prst="rect">
            <a:avLst/>
          </a:prstGeom>
          <a:solidFill>
            <a:srgbClr val="EAF7F7"/>
          </a:solidFill>
          <a:ln w="12700">
            <a:solidFill>
              <a:srgbClr val="BF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E5780A-98F4-1568-6C75-D7DB890ABC5A}"/>
              </a:ext>
            </a:extLst>
          </p:cNvPr>
          <p:cNvSpPr txBox="1"/>
          <p:nvPr/>
        </p:nvSpPr>
        <p:spPr>
          <a:xfrm>
            <a:off x="6578600" y="2006600"/>
            <a:ext cx="139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b="1">
                <a:solidFill>
                  <a:srgbClr val="008C9E"/>
                </a:solidFill>
                <a:latin typeface="Aptos" panose="020B0004020202020204" pitchFamily="34" charset="0"/>
              </a:rPr>
              <a:t>Normal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7138D6-F819-F783-9B93-FA8872B8F4A3}"/>
              </a:ext>
            </a:extLst>
          </p:cNvPr>
          <p:cNvSpPr txBox="1"/>
          <p:nvPr/>
        </p:nvSpPr>
        <p:spPr>
          <a:xfrm>
            <a:off x="6578600" y="23368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334444"/>
                </a:solidFill>
                <a:latin typeface="Aptos" panose="020B0004020202020204" pitchFamily="34" charset="0"/>
              </a:rPr>
              <a:t>S1 opens the valve and reports safe operation.</a:t>
            </a:r>
            <a:endParaRPr lang="en-IN" sz="1500">
              <a:solidFill>
                <a:srgbClr val="334444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EC96D7-9A74-83DB-7F19-4CAA7CC17135}"/>
              </a:ext>
            </a:extLst>
          </p:cNvPr>
          <p:cNvSpPr/>
          <p:nvPr/>
        </p:nvSpPr>
        <p:spPr>
          <a:xfrm>
            <a:off x="6350000" y="3092966"/>
            <a:ext cx="4368800" cy="914400"/>
          </a:xfrm>
          <a:prstGeom prst="rect">
            <a:avLst/>
          </a:prstGeom>
          <a:solidFill>
            <a:srgbClr val="FFF8E8"/>
          </a:solidFill>
          <a:ln w="12700">
            <a:solidFill>
              <a:srgbClr val="F0D8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17F1C1-D403-9764-8C15-65E56A230047}"/>
              </a:ext>
            </a:extLst>
          </p:cNvPr>
          <p:cNvSpPr txBox="1"/>
          <p:nvPr/>
        </p:nvSpPr>
        <p:spPr>
          <a:xfrm>
            <a:off x="6578600" y="3143766"/>
            <a:ext cx="139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b="1">
                <a:solidFill>
                  <a:srgbClr val="A66A00"/>
                </a:solidFill>
                <a:latin typeface="Aptos" panose="020B0004020202020204" pitchFamily="34" charset="0"/>
              </a:rPr>
              <a:t>Warning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736C82-C798-8C15-1AE4-638044CE22D5}"/>
              </a:ext>
            </a:extLst>
          </p:cNvPr>
          <p:cNvSpPr txBox="1"/>
          <p:nvPr/>
        </p:nvSpPr>
        <p:spPr>
          <a:xfrm>
            <a:off x="6578600" y="3473966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3A3322"/>
                </a:solidFill>
                <a:latin typeface="Aptos" panose="020B0004020202020204" pitchFamily="34" charset="0"/>
              </a:rPr>
              <a:t>S2 keeps flow open while evidence is confirmed.</a:t>
            </a:r>
            <a:endParaRPr lang="en-IN" sz="1500">
              <a:solidFill>
                <a:srgbClr val="3A3322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BCF183-9199-5177-B73E-EDB3B6F2AD6F}"/>
              </a:ext>
            </a:extLst>
          </p:cNvPr>
          <p:cNvSpPr/>
          <p:nvPr/>
        </p:nvSpPr>
        <p:spPr>
          <a:xfrm>
            <a:off x="6350000" y="4191000"/>
            <a:ext cx="4368800" cy="1117600"/>
          </a:xfrm>
          <a:prstGeom prst="rect">
            <a:avLst/>
          </a:prstGeom>
          <a:solidFill>
            <a:srgbClr val="FFF1F1"/>
          </a:solidFill>
          <a:ln w="12700">
            <a:solidFill>
              <a:srgbClr val="ED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D6E7A8-E4F5-7308-0F9E-0A9B81AFF960}"/>
              </a:ext>
            </a:extLst>
          </p:cNvPr>
          <p:cNvSpPr txBox="1"/>
          <p:nvPr/>
        </p:nvSpPr>
        <p:spPr>
          <a:xfrm>
            <a:off x="6578600" y="4394200"/>
            <a:ext cx="139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b="1">
                <a:solidFill>
                  <a:srgbClr val="C21F1F"/>
                </a:solidFill>
                <a:latin typeface="Aptos" panose="020B0004020202020204" pitchFamily="34" charset="0"/>
              </a:rPr>
              <a:t>Alarm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5AE465-3DDA-1D63-F192-6CCA9B667DB9}"/>
              </a:ext>
            </a:extLst>
          </p:cNvPr>
          <p:cNvSpPr txBox="1"/>
          <p:nvPr/>
        </p:nvSpPr>
        <p:spPr>
          <a:xfrm>
            <a:off x="6578600" y="4724400"/>
            <a:ext cx="3632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3A2525"/>
                </a:solidFill>
                <a:latin typeface="Aptos" panose="020B0004020202020204" pitchFamily="34" charset="0"/>
              </a:rPr>
              <a:t>S3 closes the valve, turns on the alarm, and remains latched until reset.</a:t>
            </a:r>
            <a:endParaRPr lang="en-IN" sz="1500">
              <a:solidFill>
                <a:srgbClr val="3A252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9735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7E7584-AEAC-E532-A410-A360EA522E5F}"/>
              </a:ext>
            </a:extLst>
          </p:cNvPr>
          <p:cNvSpPr txBox="1"/>
          <p:nvPr/>
        </p:nvSpPr>
        <p:spPr>
          <a:xfrm>
            <a:off x="533400" y="381000"/>
            <a:ext cx="1104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200" b="1">
                <a:solidFill>
                  <a:srgbClr val="101820"/>
                </a:solidFill>
                <a:latin typeface="Aptos" panose="020B0004020202020204" pitchFamily="34" charset="0"/>
              </a:rPr>
              <a:t>The response is dominated by confirmation, not actuation</a:t>
            </a:r>
            <a:endParaRPr lang="en-IN" sz="3200" b="1">
              <a:solidFill>
                <a:srgbClr val="101820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4B8172-9962-B93A-4AC8-25B2F2E08574}"/>
              </a:ext>
            </a:extLst>
          </p:cNvPr>
          <p:cNvSpPr txBox="1"/>
          <p:nvPr/>
        </p:nvSpPr>
        <p:spPr>
          <a:xfrm>
            <a:off x="533400" y="1397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4E5F5F"/>
                </a:solidFill>
                <a:latin typeface="Aptos" panose="020B0004020202020204" pitchFamily="34" charset="0"/>
              </a:rPr>
              <a:t>The system waits long enough to avoid false alarms, then closes the valve quickly.</a:t>
            </a:r>
            <a:endParaRPr lang="en-IN" sz="1400">
              <a:solidFill>
                <a:srgbClr val="4E5F5F"/>
              </a:solidFill>
              <a:latin typeface="Aptos" panose="020B00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9BE6EB1-55D0-0DA0-7AD6-5BAD45703AD2}"/>
              </a:ext>
            </a:extLst>
          </p:cNvPr>
          <p:cNvCxnSpPr/>
          <p:nvPr/>
        </p:nvCxnSpPr>
        <p:spPr>
          <a:xfrm>
            <a:off x="533400" y="6350000"/>
            <a:ext cx="11125200" cy="0"/>
          </a:xfrm>
          <a:prstGeom prst="line">
            <a:avLst/>
          </a:prstGeom>
          <a:ln w="15240">
            <a:solidFill>
              <a:srgbClr val="D2D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7D9812B-4D94-6F45-EEB7-B2FA3375FFE8}"/>
              </a:ext>
            </a:extLst>
          </p:cNvPr>
          <p:cNvSpPr txBox="1"/>
          <p:nvPr/>
        </p:nvSpPr>
        <p:spPr>
          <a:xfrm>
            <a:off x="533400" y="65024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ICSIMA2026 backup video | NurdleDNA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E7999D-B956-377E-9A4D-FC94E415F2D9}"/>
              </a:ext>
            </a:extLst>
          </p:cNvPr>
          <p:cNvSpPr txBox="1"/>
          <p:nvPr/>
        </p:nvSpPr>
        <p:spPr>
          <a:xfrm>
            <a:off x="10795000" y="6502400"/>
            <a:ext cx="86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8 / 12</a:t>
            </a:r>
          </a:p>
        </p:txBody>
      </p:sp>
      <p:pic>
        <p:nvPicPr>
          <p:cNvPr id="8" name="Picture 7" descr="End-to-end latency breakdown">
            <a:extLst>
              <a:ext uri="{FF2B5EF4-FFF2-40B4-BE49-F238E27FC236}">
                <a16:creationId xmlns:a16="http://schemas.microsoft.com/office/drawing/2014/main" id="{23D85B94-5F90-AC7B-8B5D-C6F42312924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324" y="1651000"/>
            <a:ext cx="4811351" cy="3251200"/>
          </a:xfrm>
          <a:prstGeom prst="rect">
            <a:avLst/>
          </a:prstGeom>
        </p:spPr>
      </p:pic>
      <p:pic>
        <p:nvPicPr>
          <p:cNvPr id="10" name="Picture 9" descr="Time-aligned event trace showing sensor, FSM, and actuator behavior">
            <a:extLst>
              <a:ext uri="{FF2B5EF4-FFF2-40B4-BE49-F238E27FC236}">
                <a16:creationId xmlns:a16="http://schemas.microsoft.com/office/drawing/2014/main" id="{8830300B-3677-99C9-B9B2-DB84625D5E1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705" y="1651000"/>
            <a:ext cx="4356190" cy="33274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E6ED8A6-8019-761E-7274-372EF40D92A2}"/>
              </a:ext>
            </a:extLst>
          </p:cNvPr>
          <p:cNvSpPr/>
          <p:nvPr/>
        </p:nvSpPr>
        <p:spPr>
          <a:xfrm>
            <a:off x="635000" y="5105400"/>
            <a:ext cx="1981200" cy="1041400"/>
          </a:xfrm>
          <a:prstGeom prst="rect">
            <a:avLst/>
          </a:prstGeom>
          <a:solidFill>
            <a:srgbClr val="F5FAFA"/>
          </a:solidFill>
          <a:ln w="12700">
            <a:solidFill>
              <a:srgbClr val="D6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206E6A-2D9E-3F7D-2D26-0433890B3E8A}"/>
              </a:ext>
            </a:extLst>
          </p:cNvPr>
          <p:cNvSpPr txBox="1"/>
          <p:nvPr/>
        </p:nvSpPr>
        <p:spPr>
          <a:xfrm>
            <a:off x="838200" y="5207000"/>
            <a:ext cx="157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200" b="1" dirty="0">
                <a:solidFill>
                  <a:srgbClr val="008C9E"/>
                </a:solidFill>
                <a:latin typeface="Aptos" panose="020B0004020202020204" pitchFamily="34" charset="0"/>
              </a:rPr>
              <a:t>3.0 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FE60E7-2101-C6AD-C4E0-2AFF4D147A49}"/>
              </a:ext>
            </a:extLst>
          </p:cNvPr>
          <p:cNvSpPr txBox="1"/>
          <p:nvPr/>
        </p:nvSpPr>
        <p:spPr>
          <a:xfrm>
            <a:off x="838200" y="5728731"/>
            <a:ext cx="157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300" dirty="0">
                <a:solidFill>
                  <a:srgbClr val="384848"/>
                </a:solidFill>
                <a:latin typeface="Aptos" panose="020B0004020202020204" pitchFamily="34" charset="0"/>
              </a:rPr>
              <a:t>average end-to-end alarm response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7E0C01-6409-3C53-83F6-7842CAB9CD47}"/>
              </a:ext>
            </a:extLst>
          </p:cNvPr>
          <p:cNvSpPr/>
          <p:nvPr/>
        </p:nvSpPr>
        <p:spPr>
          <a:xfrm>
            <a:off x="2870200" y="5105400"/>
            <a:ext cx="1981200" cy="1041400"/>
          </a:xfrm>
          <a:prstGeom prst="rect">
            <a:avLst/>
          </a:prstGeom>
          <a:solidFill>
            <a:srgbClr val="F5FAFA"/>
          </a:solidFill>
          <a:ln w="12700">
            <a:solidFill>
              <a:srgbClr val="D6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F468E0-E07C-E393-3FF4-8B5948FBA53E}"/>
              </a:ext>
            </a:extLst>
          </p:cNvPr>
          <p:cNvSpPr txBox="1"/>
          <p:nvPr/>
        </p:nvSpPr>
        <p:spPr>
          <a:xfrm>
            <a:off x="3073400" y="5207000"/>
            <a:ext cx="157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200" b="1">
                <a:solidFill>
                  <a:srgbClr val="FF6B35"/>
                </a:solidFill>
                <a:latin typeface="Aptos" panose="020B0004020202020204" pitchFamily="34" charset="0"/>
              </a:rPr>
              <a:t>2.5 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76182B-01E4-C803-8F0A-F85D672E97B3}"/>
              </a:ext>
            </a:extLst>
          </p:cNvPr>
          <p:cNvSpPr txBox="1"/>
          <p:nvPr/>
        </p:nvSpPr>
        <p:spPr>
          <a:xfrm>
            <a:off x="3073400" y="5728731"/>
            <a:ext cx="157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300" dirty="0">
                <a:solidFill>
                  <a:srgbClr val="384848"/>
                </a:solidFill>
                <a:latin typeface="Aptos" panose="020B0004020202020204" pitchFamily="34" charset="0"/>
              </a:rPr>
              <a:t>temporal confirmation window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5B2BF9-48C8-0762-86D8-78FBD46214E0}"/>
              </a:ext>
            </a:extLst>
          </p:cNvPr>
          <p:cNvSpPr/>
          <p:nvPr/>
        </p:nvSpPr>
        <p:spPr>
          <a:xfrm>
            <a:off x="5105400" y="5105400"/>
            <a:ext cx="1981200" cy="1041400"/>
          </a:xfrm>
          <a:prstGeom prst="rect">
            <a:avLst/>
          </a:prstGeom>
          <a:solidFill>
            <a:srgbClr val="F5FAFA"/>
          </a:solidFill>
          <a:ln w="12700">
            <a:solidFill>
              <a:srgbClr val="D6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1837C8-2A1E-2D1D-4DDD-26D7ABF4B445}"/>
              </a:ext>
            </a:extLst>
          </p:cNvPr>
          <p:cNvSpPr txBox="1"/>
          <p:nvPr/>
        </p:nvSpPr>
        <p:spPr>
          <a:xfrm>
            <a:off x="5308600" y="5201047"/>
            <a:ext cx="157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200" b="1" dirty="0">
                <a:solidFill>
                  <a:srgbClr val="008C9E"/>
                </a:solidFill>
                <a:latin typeface="Aptos" panose="020B0004020202020204" pitchFamily="34" charset="0"/>
              </a:rPr>
              <a:t>300 </a:t>
            </a:r>
            <a:r>
              <a:rPr lang="en-IN" sz="3200" b="1" dirty="0" err="1">
                <a:solidFill>
                  <a:srgbClr val="008C9E"/>
                </a:solidFill>
                <a:latin typeface="Aptos" panose="020B0004020202020204" pitchFamily="34" charset="0"/>
              </a:rPr>
              <a:t>ms</a:t>
            </a:r>
            <a:endParaRPr lang="en-IN" sz="3200" b="1" dirty="0">
              <a:solidFill>
                <a:srgbClr val="008C9E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C0DB17-0B08-BFAF-FA32-6EE17B8BEF0C}"/>
              </a:ext>
            </a:extLst>
          </p:cNvPr>
          <p:cNvSpPr txBox="1"/>
          <p:nvPr/>
        </p:nvSpPr>
        <p:spPr>
          <a:xfrm>
            <a:off x="5340305" y="5708134"/>
            <a:ext cx="157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dirty="0">
                <a:solidFill>
                  <a:srgbClr val="384848"/>
                </a:solidFill>
                <a:latin typeface="Aptos" panose="020B0004020202020204" pitchFamily="34" charset="0"/>
              </a:rPr>
              <a:t>valve seated after S3 activation</a:t>
            </a:r>
            <a:endParaRPr lang="en-IN" sz="1300" dirty="0">
              <a:solidFill>
                <a:srgbClr val="384848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83DA4A-C4C0-E384-3A26-94BD9B33D3E3}"/>
              </a:ext>
            </a:extLst>
          </p:cNvPr>
          <p:cNvSpPr txBox="1"/>
          <p:nvPr/>
        </p:nvSpPr>
        <p:spPr>
          <a:xfrm>
            <a:off x="7465623" y="5110202"/>
            <a:ext cx="342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dirty="0">
                <a:solidFill>
                  <a:srgbClr val="303A3A"/>
                </a:solidFill>
                <a:latin typeface="Aptos" panose="020B0004020202020204" pitchFamily="34" charset="0"/>
              </a:rPr>
              <a:t>The latency trade-off is intentional: a shorter window would respond faster, but would increase false alarms in bubbles, glare, and turbulent flow.</a:t>
            </a:r>
            <a:endParaRPr lang="en-IN" sz="1500" dirty="0">
              <a:solidFill>
                <a:srgbClr val="303A3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7598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11C69F-A1A7-C550-94FF-CB2545844704}"/>
              </a:ext>
            </a:extLst>
          </p:cNvPr>
          <p:cNvSpPr txBox="1"/>
          <p:nvPr/>
        </p:nvSpPr>
        <p:spPr>
          <a:xfrm>
            <a:off x="533400" y="381000"/>
            <a:ext cx="1104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200" b="1">
                <a:solidFill>
                  <a:srgbClr val="101820"/>
                </a:solidFill>
                <a:latin typeface="Aptos" panose="020B0004020202020204" pitchFamily="34" charset="0"/>
              </a:rPr>
              <a:t>Each alarm creates physical and digital evidence</a:t>
            </a:r>
            <a:endParaRPr lang="en-IN" sz="3200" b="1">
              <a:solidFill>
                <a:srgbClr val="101820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067D9D-FB29-7F16-4F0A-1699D0561979}"/>
              </a:ext>
            </a:extLst>
          </p:cNvPr>
          <p:cNvSpPr txBox="1"/>
          <p:nvPr/>
        </p:nvSpPr>
        <p:spPr>
          <a:xfrm>
            <a:off x="533400" y="1397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4E5F5F"/>
                </a:solidFill>
                <a:latin typeface="Aptos" panose="020B0004020202020204" pitchFamily="34" charset="0"/>
              </a:rPr>
              <a:t>The system does not just signal a hazard; it preserves data that can support source-level accountability.</a:t>
            </a:r>
            <a:endParaRPr lang="en-IN" sz="1400">
              <a:solidFill>
                <a:srgbClr val="4E5F5F"/>
              </a:solidFill>
              <a:latin typeface="Aptos" panose="020B00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24DE393-6C2E-D40C-DE30-BFB6BFB4DFF0}"/>
              </a:ext>
            </a:extLst>
          </p:cNvPr>
          <p:cNvCxnSpPr/>
          <p:nvPr/>
        </p:nvCxnSpPr>
        <p:spPr>
          <a:xfrm>
            <a:off x="533400" y="6350000"/>
            <a:ext cx="11125200" cy="0"/>
          </a:xfrm>
          <a:prstGeom prst="line">
            <a:avLst/>
          </a:prstGeom>
          <a:ln w="15240">
            <a:solidFill>
              <a:srgbClr val="D2D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3104D4C-4B2E-6CA3-FD78-D104C7F34918}"/>
              </a:ext>
            </a:extLst>
          </p:cNvPr>
          <p:cNvSpPr txBox="1"/>
          <p:nvPr/>
        </p:nvSpPr>
        <p:spPr>
          <a:xfrm>
            <a:off x="533400" y="65024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ICSIMA2026 backup video | NurdleDNA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77B78D-73F8-028B-CF82-992AD8178CB1}"/>
              </a:ext>
            </a:extLst>
          </p:cNvPr>
          <p:cNvSpPr txBox="1"/>
          <p:nvPr/>
        </p:nvSpPr>
        <p:spPr>
          <a:xfrm>
            <a:off x="10795000" y="6502400"/>
            <a:ext cx="86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9 / 12</a:t>
            </a:r>
          </a:p>
        </p:txBody>
      </p:sp>
      <p:pic>
        <p:nvPicPr>
          <p:cNvPr id="8" name="Picture 7" descr="Load-cell calibration plot">
            <a:extLst>
              <a:ext uri="{FF2B5EF4-FFF2-40B4-BE49-F238E27FC236}">
                <a16:creationId xmlns:a16="http://schemas.microsoft.com/office/drawing/2014/main" id="{2E4884F8-1BA0-CBF6-FFAD-C5A438ED8BC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718867"/>
            <a:ext cx="3810000" cy="2531265"/>
          </a:xfrm>
          <a:prstGeom prst="rect">
            <a:avLst/>
          </a:prstGeom>
        </p:spPr>
      </p:pic>
      <p:pic>
        <p:nvPicPr>
          <p:cNvPr id="10" name="Picture 9" descr="Firebase-backed dashboard during an active alarm event">
            <a:extLst>
              <a:ext uri="{FF2B5EF4-FFF2-40B4-BE49-F238E27FC236}">
                <a16:creationId xmlns:a16="http://schemas.microsoft.com/office/drawing/2014/main" id="{75EFC192-66DC-0E5C-B1EF-D6C674EA3E5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200" y="1643638"/>
            <a:ext cx="5105400" cy="237692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93797E6-A372-B550-857C-48B2DE0CFAD8}"/>
              </a:ext>
            </a:extLst>
          </p:cNvPr>
          <p:cNvSpPr/>
          <p:nvPr/>
        </p:nvSpPr>
        <p:spPr>
          <a:xfrm>
            <a:off x="685800" y="4648199"/>
            <a:ext cx="2082800" cy="1341915"/>
          </a:xfrm>
          <a:prstGeom prst="rect">
            <a:avLst/>
          </a:prstGeom>
          <a:solidFill>
            <a:srgbClr val="F5FAFA"/>
          </a:solidFill>
          <a:ln w="12700">
            <a:solidFill>
              <a:srgbClr val="D6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A7B1A2-B953-D8AB-04CE-338CF5C8DCA5}"/>
              </a:ext>
            </a:extLst>
          </p:cNvPr>
          <p:cNvSpPr txBox="1"/>
          <p:nvPr/>
        </p:nvSpPr>
        <p:spPr>
          <a:xfrm>
            <a:off x="889000" y="48260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200" b="1">
                <a:solidFill>
                  <a:srgbClr val="008C9E"/>
                </a:solidFill>
                <a:latin typeface="Aptos" panose="020B0004020202020204" pitchFamily="34" charset="0"/>
              </a:rPr>
              <a:t>R2=1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2F8387-3174-92AC-B91C-D42393343EF6}"/>
              </a:ext>
            </a:extLst>
          </p:cNvPr>
          <p:cNvSpPr txBox="1"/>
          <p:nvPr/>
        </p:nvSpPr>
        <p:spPr>
          <a:xfrm>
            <a:off x="889000" y="54356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300">
                <a:solidFill>
                  <a:srgbClr val="384848"/>
                </a:solidFill>
                <a:latin typeface="Aptos" panose="020B0004020202020204" pitchFamily="34" charset="0"/>
              </a:rPr>
              <a:t>load-cell calibration linearity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61AA5A-B587-3544-D08B-31215FFE21C5}"/>
              </a:ext>
            </a:extLst>
          </p:cNvPr>
          <p:cNvSpPr/>
          <p:nvPr/>
        </p:nvSpPr>
        <p:spPr>
          <a:xfrm>
            <a:off x="2971800" y="4648199"/>
            <a:ext cx="2032000" cy="1341923"/>
          </a:xfrm>
          <a:prstGeom prst="rect">
            <a:avLst/>
          </a:prstGeom>
          <a:solidFill>
            <a:srgbClr val="F5FAFA"/>
          </a:solidFill>
          <a:ln w="12700">
            <a:solidFill>
              <a:srgbClr val="D6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6637C3-A191-89C5-8A3C-078B6CC640FD}"/>
              </a:ext>
            </a:extLst>
          </p:cNvPr>
          <p:cNvSpPr txBox="1"/>
          <p:nvPr/>
        </p:nvSpPr>
        <p:spPr>
          <a:xfrm>
            <a:off x="3175000" y="48260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200" b="1">
                <a:solidFill>
                  <a:srgbClr val="008C9E"/>
                </a:solidFill>
                <a:latin typeface="Aptos" panose="020B0004020202020204" pitchFamily="34" charset="0"/>
              </a:rPr>
              <a:t>5 Hz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C522FF-D422-423C-5010-2919872016BB}"/>
              </a:ext>
            </a:extLst>
          </p:cNvPr>
          <p:cNvSpPr txBox="1"/>
          <p:nvPr/>
        </p:nvSpPr>
        <p:spPr>
          <a:xfrm>
            <a:off x="3175000" y="54356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384848"/>
                </a:solidFill>
                <a:latin typeface="Aptos" panose="020B0004020202020204" pitchFamily="34" charset="0"/>
              </a:rPr>
              <a:t>sensor recording and telemetry cadence</a:t>
            </a:r>
            <a:endParaRPr lang="en-IN" sz="1300">
              <a:solidFill>
                <a:srgbClr val="384848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95D834-6C43-80A1-A5FA-202AEC3FA40C}"/>
              </a:ext>
            </a:extLst>
          </p:cNvPr>
          <p:cNvSpPr/>
          <p:nvPr/>
        </p:nvSpPr>
        <p:spPr>
          <a:xfrm>
            <a:off x="5257800" y="4648199"/>
            <a:ext cx="2032000" cy="1341933"/>
          </a:xfrm>
          <a:prstGeom prst="rect">
            <a:avLst/>
          </a:prstGeom>
          <a:solidFill>
            <a:srgbClr val="F5FAFA"/>
          </a:solidFill>
          <a:ln w="12700">
            <a:solidFill>
              <a:srgbClr val="D6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CFF965-B7D1-20A5-9BC6-998FE2C22982}"/>
              </a:ext>
            </a:extLst>
          </p:cNvPr>
          <p:cNvSpPr txBox="1"/>
          <p:nvPr/>
        </p:nvSpPr>
        <p:spPr>
          <a:xfrm>
            <a:off x="5461000" y="48260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200" b="1">
                <a:solidFill>
                  <a:srgbClr val="FF6B35"/>
                </a:solidFill>
                <a:latin typeface="Aptos" panose="020B0004020202020204" pitchFamily="34" charset="0"/>
              </a:rPr>
              <a:t>3 data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85B3FE-0665-2425-AD21-B9EB6B4EE52C}"/>
              </a:ext>
            </a:extLst>
          </p:cNvPr>
          <p:cNvSpPr txBox="1"/>
          <p:nvPr/>
        </p:nvSpPr>
        <p:spPr>
          <a:xfrm>
            <a:off x="5461000" y="54356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dirty="0">
                <a:solidFill>
                  <a:srgbClr val="384848"/>
                </a:solidFill>
                <a:latin typeface="Aptos" panose="020B0004020202020204" pitchFamily="34" charset="0"/>
              </a:rPr>
              <a:t>frame, captured mass, and VOC log</a:t>
            </a:r>
            <a:endParaRPr lang="en-IN" sz="1300" dirty="0">
              <a:solidFill>
                <a:srgbClr val="384848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E8CAB2-6BBF-F103-FE9B-4F686DB0C0E4}"/>
              </a:ext>
            </a:extLst>
          </p:cNvPr>
          <p:cNvSpPr txBox="1"/>
          <p:nvPr/>
        </p:nvSpPr>
        <p:spPr>
          <a:xfrm>
            <a:off x="7874000" y="43688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500">
                <a:solidFill>
                  <a:srgbClr val="222222"/>
                </a:solidFill>
                <a:latin typeface="Aptos" panose="020B0004020202020204" pitchFamily="34" charset="0"/>
              </a:rPr>
              <a:t>- Evidence cartridge mass is recorded through HX711 calibration</a:t>
            </a:r>
          </a:p>
          <a:p>
            <a:pPr>
              <a:spcAft>
                <a:spcPts val="600"/>
              </a:spcAft>
            </a:pPr>
            <a:r>
              <a:rPr lang="en-US" sz="1500">
                <a:solidFill>
                  <a:srgbClr val="222222"/>
                </a:solidFill>
                <a:latin typeface="Aptos" panose="020B0004020202020204" pitchFamily="34" charset="0"/>
              </a:rPr>
              <a:t>- Cloud packets include state, sensor values, classified source, and valve state</a:t>
            </a:r>
          </a:p>
          <a:p>
            <a:pPr>
              <a:spcAft>
                <a:spcPts val="600"/>
              </a:spcAft>
            </a:pPr>
            <a:r>
              <a:rPr lang="en-US" sz="1500">
                <a:solidFill>
                  <a:srgbClr val="222222"/>
                </a:solidFill>
                <a:latin typeface="Aptos" panose="020B0004020202020204" pitchFamily="34" charset="0"/>
              </a:rPr>
              <a:t>- Dashboard provides a remote audit view during S3 alarm events</a:t>
            </a:r>
            <a:endParaRPr lang="en-IN" sz="1500">
              <a:solidFill>
                <a:srgbClr val="222222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845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642FB0-2855-7AF5-FD16-D8A983C70258}"/>
              </a:ext>
            </a:extLst>
          </p:cNvPr>
          <p:cNvSpPr txBox="1"/>
          <p:nvPr/>
        </p:nvSpPr>
        <p:spPr>
          <a:xfrm>
            <a:off x="533400" y="381000"/>
            <a:ext cx="1104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200" b="1">
                <a:solidFill>
                  <a:srgbClr val="101820"/>
                </a:solidFill>
                <a:latin typeface="Aptos" panose="020B0004020202020204" pitchFamily="34" charset="0"/>
              </a:rPr>
              <a:t>The contribution is containment plus auditability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19487B-F241-C5AC-6260-0F932602E476}"/>
              </a:ext>
            </a:extLst>
          </p:cNvPr>
          <p:cNvSpPr txBox="1"/>
          <p:nvPr/>
        </p:nvSpPr>
        <p:spPr>
          <a:xfrm>
            <a:off x="533400" y="1397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4E5F5F"/>
                </a:solidFill>
                <a:latin typeface="Aptos" panose="020B0004020202020204" pitchFamily="34" charset="0"/>
              </a:rPr>
              <a:t>Compared with conventional methods, NurdleDNA combines field response with traceable evidence.</a:t>
            </a:r>
            <a:endParaRPr lang="en-IN" sz="1400">
              <a:solidFill>
                <a:srgbClr val="4E5F5F"/>
              </a:solidFill>
              <a:latin typeface="Aptos" panose="020B00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D835C2A-E322-1583-19E1-7ACBE504AE8D}"/>
              </a:ext>
            </a:extLst>
          </p:cNvPr>
          <p:cNvCxnSpPr/>
          <p:nvPr/>
        </p:nvCxnSpPr>
        <p:spPr>
          <a:xfrm>
            <a:off x="533400" y="6350000"/>
            <a:ext cx="11125200" cy="0"/>
          </a:xfrm>
          <a:prstGeom prst="line">
            <a:avLst/>
          </a:prstGeom>
          <a:ln w="15240">
            <a:solidFill>
              <a:srgbClr val="D2D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FB4C5BB-F7F6-264A-8CBB-E2A021B37C79}"/>
              </a:ext>
            </a:extLst>
          </p:cNvPr>
          <p:cNvSpPr txBox="1"/>
          <p:nvPr/>
        </p:nvSpPr>
        <p:spPr>
          <a:xfrm>
            <a:off x="533400" y="65024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ICSIMA2026 backup video | NurdleDNA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C2A1F5-B51F-A0D1-E0DE-2D8A7EF76EFE}"/>
              </a:ext>
            </a:extLst>
          </p:cNvPr>
          <p:cNvSpPr txBox="1"/>
          <p:nvPr/>
        </p:nvSpPr>
        <p:spPr>
          <a:xfrm>
            <a:off x="10795000" y="6502400"/>
            <a:ext cx="86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10 / 12</a:t>
            </a:r>
          </a:p>
        </p:txBody>
      </p:sp>
      <p:pic>
        <p:nvPicPr>
          <p:cNvPr id="8" name="Picture 7" descr="Comparison table of NurdleDNA with conventional microplastic-monitoring approaches">
            <a:extLst>
              <a:ext uri="{FF2B5EF4-FFF2-40B4-BE49-F238E27FC236}">
                <a16:creationId xmlns:a16="http://schemas.microsoft.com/office/drawing/2014/main" id="{7366CC84-6686-63C2-F375-5C81AE7438F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1601986"/>
            <a:ext cx="7569200" cy="258722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1A0E67F-D2E4-D772-4C68-2792078328B2}"/>
              </a:ext>
            </a:extLst>
          </p:cNvPr>
          <p:cNvSpPr/>
          <p:nvPr/>
        </p:nvSpPr>
        <p:spPr>
          <a:xfrm>
            <a:off x="8661400" y="1600200"/>
            <a:ext cx="2336800" cy="2590800"/>
          </a:xfrm>
          <a:prstGeom prst="rect">
            <a:avLst/>
          </a:prstGeom>
          <a:solidFill>
            <a:srgbClr val="F5FAFA"/>
          </a:solidFill>
          <a:ln w="12700">
            <a:solidFill>
              <a:srgbClr val="D6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21CFDD-92E3-77EE-59DE-3E571A468CB3}"/>
              </a:ext>
            </a:extLst>
          </p:cNvPr>
          <p:cNvSpPr txBox="1"/>
          <p:nvPr/>
        </p:nvSpPr>
        <p:spPr>
          <a:xfrm>
            <a:off x="8940800" y="18796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2000" b="1">
                <a:solidFill>
                  <a:srgbClr val="008C9E"/>
                </a:solidFill>
                <a:latin typeface="Aptos" panose="020B0004020202020204" pitchFamily="34" charset="0"/>
              </a:rPr>
              <a:t>What changes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A2DA91-3EAD-D2CC-BBCE-16EC8FBB9361}"/>
              </a:ext>
            </a:extLst>
          </p:cNvPr>
          <p:cNvSpPr txBox="1"/>
          <p:nvPr/>
        </p:nvSpPr>
        <p:spPr>
          <a:xfrm>
            <a:off x="8940800" y="2489200"/>
            <a:ext cx="167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500">
                <a:solidFill>
                  <a:srgbClr val="222222"/>
                </a:solidFill>
                <a:latin typeface="Aptos" panose="020B0004020202020204" pitchFamily="34" charset="0"/>
              </a:rPr>
              <a:t>- Real-time source-level containment</a:t>
            </a:r>
          </a:p>
          <a:p>
            <a:pPr>
              <a:spcAft>
                <a:spcPts val="600"/>
              </a:spcAft>
            </a:pPr>
            <a:r>
              <a:rPr lang="en-US" sz="1500">
                <a:solidFill>
                  <a:srgbClr val="222222"/>
                </a:solidFill>
                <a:latin typeface="Aptos" panose="020B0004020202020204" pitchFamily="34" charset="0"/>
              </a:rPr>
              <a:t>- Physical capture, not only detection</a:t>
            </a:r>
          </a:p>
          <a:p>
            <a:pPr>
              <a:spcAft>
                <a:spcPts val="600"/>
              </a:spcAft>
            </a:pPr>
            <a:r>
              <a:rPr lang="en-US" sz="1500">
                <a:solidFill>
                  <a:srgbClr val="222222"/>
                </a:solidFill>
                <a:latin typeface="Aptos" panose="020B0004020202020204" pitchFamily="34" charset="0"/>
              </a:rPr>
              <a:t>- Cloud audit trail tied to each alarm</a:t>
            </a:r>
            <a:endParaRPr lang="en-IN" sz="1500">
              <a:solidFill>
                <a:srgbClr val="222222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310EA8-7D18-2D85-D51B-04815701FECB}"/>
              </a:ext>
            </a:extLst>
          </p:cNvPr>
          <p:cNvSpPr/>
          <p:nvPr/>
        </p:nvSpPr>
        <p:spPr>
          <a:xfrm>
            <a:off x="990599" y="4749799"/>
            <a:ext cx="1944241" cy="1156723"/>
          </a:xfrm>
          <a:prstGeom prst="rect">
            <a:avLst/>
          </a:prstGeom>
          <a:solidFill>
            <a:srgbClr val="F5FAFA"/>
          </a:solidFill>
          <a:ln w="12700">
            <a:solidFill>
              <a:srgbClr val="D6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CCE3FB-9682-01B2-5037-9670306B86CB}"/>
              </a:ext>
            </a:extLst>
          </p:cNvPr>
          <p:cNvSpPr txBox="1"/>
          <p:nvPr/>
        </p:nvSpPr>
        <p:spPr>
          <a:xfrm>
            <a:off x="1193800" y="4927600"/>
            <a:ext cx="1498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200" b="1">
                <a:solidFill>
                  <a:srgbClr val="008C9E"/>
                </a:solidFill>
                <a:latin typeface="Aptos" panose="020B0004020202020204" pitchFamily="34" charset="0"/>
              </a:rPr>
              <a:t>Yes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B1B9E1-5A37-F104-A565-92ABA93AAA82}"/>
              </a:ext>
            </a:extLst>
          </p:cNvPr>
          <p:cNvSpPr txBox="1"/>
          <p:nvPr/>
        </p:nvSpPr>
        <p:spPr>
          <a:xfrm>
            <a:off x="1193800" y="5537200"/>
            <a:ext cx="1498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300">
                <a:solidFill>
                  <a:srgbClr val="384848"/>
                </a:solidFill>
                <a:latin typeface="Aptos" panose="020B0004020202020204" pitchFamily="34" charset="0"/>
              </a:rPr>
              <a:t>real-time response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47553F-8FCB-7BEF-393A-07E58A9A5E6A}"/>
              </a:ext>
            </a:extLst>
          </p:cNvPr>
          <p:cNvSpPr/>
          <p:nvPr/>
        </p:nvSpPr>
        <p:spPr>
          <a:xfrm>
            <a:off x="3276600" y="4749799"/>
            <a:ext cx="1905000" cy="1156720"/>
          </a:xfrm>
          <a:prstGeom prst="rect">
            <a:avLst/>
          </a:prstGeom>
          <a:solidFill>
            <a:srgbClr val="F5FAFA"/>
          </a:solidFill>
          <a:ln w="12700">
            <a:solidFill>
              <a:srgbClr val="D6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E7821F-FE5E-F3E2-CC5C-153B287BCB76}"/>
              </a:ext>
            </a:extLst>
          </p:cNvPr>
          <p:cNvSpPr txBox="1"/>
          <p:nvPr/>
        </p:nvSpPr>
        <p:spPr>
          <a:xfrm>
            <a:off x="3479800" y="4927600"/>
            <a:ext cx="1498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200" b="1">
                <a:solidFill>
                  <a:srgbClr val="FF6B35"/>
                </a:solidFill>
                <a:latin typeface="Aptos" panose="020B0004020202020204" pitchFamily="34" charset="0"/>
              </a:rPr>
              <a:t>Valve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2084CD-C3B5-18F2-8767-8AB704BDC896}"/>
              </a:ext>
            </a:extLst>
          </p:cNvPr>
          <p:cNvSpPr txBox="1"/>
          <p:nvPr/>
        </p:nvSpPr>
        <p:spPr>
          <a:xfrm>
            <a:off x="3479800" y="5537200"/>
            <a:ext cx="1498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300">
                <a:solidFill>
                  <a:srgbClr val="384848"/>
                </a:solidFill>
                <a:latin typeface="Aptos" panose="020B0004020202020204" pitchFamily="34" charset="0"/>
              </a:rPr>
              <a:t>valve containment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B2E8DE-773A-2981-8C90-D86536F88690}"/>
              </a:ext>
            </a:extLst>
          </p:cNvPr>
          <p:cNvSpPr/>
          <p:nvPr/>
        </p:nvSpPr>
        <p:spPr>
          <a:xfrm>
            <a:off x="5562600" y="4749799"/>
            <a:ext cx="1905000" cy="1156725"/>
          </a:xfrm>
          <a:prstGeom prst="rect">
            <a:avLst/>
          </a:prstGeom>
          <a:solidFill>
            <a:srgbClr val="F5FAFA"/>
          </a:solidFill>
          <a:ln w="12700">
            <a:solidFill>
              <a:srgbClr val="D6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77B1AD-6A32-B554-7294-E1D8BEE41A9A}"/>
              </a:ext>
            </a:extLst>
          </p:cNvPr>
          <p:cNvSpPr txBox="1"/>
          <p:nvPr/>
        </p:nvSpPr>
        <p:spPr>
          <a:xfrm>
            <a:off x="5765800" y="4927600"/>
            <a:ext cx="1498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200" b="1">
                <a:solidFill>
                  <a:srgbClr val="008C9E"/>
                </a:solidFill>
                <a:latin typeface="Aptos" panose="020B0004020202020204" pitchFamily="34" charset="0"/>
              </a:rPr>
              <a:t>Field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560955-D667-61CE-1644-CE589FB92639}"/>
              </a:ext>
            </a:extLst>
          </p:cNvPr>
          <p:cNvSpPr txBox="1"/>
          <p:nvPr/>
        </p:nvSpPr>
        <p:spPr>
          <a:xfrm>
            <a:off x="5765800" y="5537200"/>
            <a:ext cx="1498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300">
                <a:solidFill>
                  <a:srgbClr val="384848"/>
                </a:solidFill>
                <a:latin typeface="Aptos" panose="020B0004020202020204" pitchFamily="34" charset="0"/>
              </a:rPr>
              <a:t>field prototype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872BD9-AA7A-ED79-D0D7-973BCB7E299A}"/>
              </a:ext>
            </a:extLst>
          </p:cNvPr>
          <p:cNvSpPr txBox="1"/>
          <p:nvPr/>
        </p:nvSpPr>
        <p:spPr>
          <a:xfrm>
            <a:off x="8102600" y="4749800"/>
            <a:ext cx="287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303A3A"/>
                </a:solidFill>
                <a:latin typeface="Aptos" panose="020B0004020202020204" pitchFamily="34" charset="0"/>
              </a:rPr>
              <a:t>The table's point is not that NurdleDNA replaces laboratory chemistry. It fills the operational gap between industrial discharge and later laboratory confirmation.</a:t>
            </a:r>
            <a:endParaRPr lang="en-IN" sz="1500">
              <a:solidFill>
                <a:srgbClr val="303A3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2186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A6E6E5-8892-BCA5-64AB-35DC601F7530}"/>
              </a:ext>
            </a:extLst>
          </p:cNvPr>
          <p:cNvSpPr txBox="1"/>
          <p:nvPr/>
        </p:nvSpPr>
        <p:spPr>
          <a:xfrm>
            <a:off x="533400" y="381000"/>
            <a:ext cx="1104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200" b="1">
                <a:solidFill>
                  <a:srgbClr val="101820"/>
                </a:solidFill>
                <a:latin typeface="Aptos" panose="020B0004020202020204" pitchFamily="34" charset="0"/>
              </a:rPr>
              <a:t>The next step is field hardening and better classification</a:t>
            </a:r>
            <a:endParaRPr lang="en-IN" sz="3200" b="1">
              <a:solidFill>
                <a:srgbClr val="101820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304F3E-81E1-F908-E0B6-0A6A4B9E9075}"/>
              </a:ext>
            </a:extLst>
          </p:cNvPr>
          <p:cNvSpPr txBox="1"/>
          <p:nvPr/>
        </p:nvSpPr>
        <p:spPr>
          <a:xfrm>
            <a:off x="533400" y="1397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4E5F5F"/>
                </a:solidFill>
                <a:latin typeface="Aptos" panose="020B0004020202020204" pitchFamily="34" charset="0"/>
              </a:rPr>
              <a:t>The accepted paper is honest about limits and turns them into a roadmap.</a:t>
            </a:r>
            <a:endParaRPr lang="en-IN" sz="1400">
              <a:solidFill>
                <a:srgbClr val="4E5F5F"/>
              </a:solidFill>
              <a:latin typeface="Aptos" panose="020B00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E032A33-A4C8-F568-505E-0F1FDE455B05}"/>
              </a:ext>
            </a:extLst>
          </p:cNvPr>
          <p:cNvCxnSpPr/>
          <p:nvPr/>
        </p:nvCxnSpPr>
        <p:spPr>
          <a:xfrm>
            <a:off x="533400" y="6350000"/>
            <a:ext cx="11125200" cy="0"/>
          </a:xfrm>
          <a:prstGeom prst="line">
            <a:avLst/>
          </a:prstGeom>
          <a:ln w="15240">
            <a:solidFill>
              <a:srgbClr val="D2D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8301A12-5964-B764-50E4-970AAC3468E8}"/>
              </a:ext>
            </a:extLst>
          </p:cNvPr>
          <p:cNvSpPr txBox="1"/>
          <p:nvPr/>
        </p:nvSpPr>
        <p:spPr>
          <a:xfrm>
            <a:off x="533400" y="65024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ICSIMA2026 backup video | NurdleDNA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6416F3-1DC8-1F93-954C-AEEB05F86ACD}"/>
              </a:ext>
            </a:extLst>
          </p:cNvPr>
          <p:cNvSpPr txBox="1"/>
          <p:nvPr/>
        </p:nvSpPr>
        <p:spPr>
          <a:xfrm>
            <a:off x="10795000" y="6502400"/>
            <a:ext cx="86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11 / 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98ABF7-A177-9D46-3211-EBCACAEBD011}"/>
              </a:ext>
            </a:extLst>
          </p:cNvPr>
          <p:cNvSpPr/>
          <p:nvPr/>
        </p:nvSpPr>
        <p:spPr>
          <a:xfrm>
            <a:off x="736600" y="1854200"/>
            <a:ext cx="2971800" cy="2768600"/>
          </a:xfrm>
          <a:prstGeom prst="rect">
            <a:avLst/>
          </a:prstGeom>
          <a:solidFill>
            <a:srgbClr val="F5FAFA"/>
          </a:solidFill>
          <a:ln w="12700">
            <a:solidFill>
              <a:srgbClr val="D6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8FBD23-6E3B-71B1-6E7E-02EF4DDE90BB}"/>
              </a:ext>
            </a:extLst>
          </p:cNvPr>
          <p:cNvSpPr txBox="1"/>
          <p:nvPr/>
        </p:nvSpPr>
        <p:spPr>
          <a:xfrm>
            <a:off x="990600" y="21082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000" b="1">
                <a:solidFill>
                  <a:srgbClr val="008C9E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FB0D48-623F-8761-DC7D-07C59B1D4F39}"/>
              </a:ext>
            </a:extLst>
          </p:cNvPr>
          <p:cNvSpPr txBox="1"/>
          <p:nvPr/>
        </p:nvSpPr>
        <p:spPr>
          <a:xfrm>
            <a:off x="1600200" y="21590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900" b="1">
                <a:solidFill>
                  <a:srgbClr val="101820"/>
                </a:solidFill>
                <a:latin typeface="Aptos" panose="020B0004020202020204" pitchFamily="34" charset="0"/>
              </a:rPr>
              <a:t>Field hardening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B72164-E3B8-BF71-B0DE-4135185B19E2}"/>
              </a:ext>
            </a:extLst>
          </p:cNvPr>
          <p:cNvSpPr txBox="1"/>
          <p:nvPr/>
        </p:nvSpPr>
        <p:spPr>
          <a:xfrm>
            <a:off x="990600" y="28702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>
                <a:solidFill>
                  <a:srgbClr val="303A3A"/>
                </a:solidFill>
                <a:latin typeface="Aptos" panose="020B0004020202020204" pitchFamily="34" charset="0"/>
              </a:rPr>
              <a:t>IP-rated enclosure, multi-bay deployment, SCADA compatibility, and quantified maintenance intervals.</a:t>
            </a:r>
            <a:endParaRPr lang="en-IN" sz="1600">
              <a:solidFill>
                <a:srgbClr val="303A3A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0EC40A-576D-B9D4-4059-738F16E8A515}"/>
              </a:ext>
            </a:extLst>
          </p:cNvPr>
          <p:cNvSpPr/>
          <p:nvPr/>
        </p:nvSpPr>
        <p:spPr>
          <a:xfrm>
            <a:off x="4495800" y="1854200"/>
            <a:ext cx="2971800" cy="2768600"/>
          </a:xfrm>
          <a:prstGeom prst="rect">
            <a:avLst/>
          </a:prstGeom>
          <a:solidFill>
            <a:srgbClr val="FFF7F1"/>
          </a:solidFill>
          <a:ln w="12700">
            <a:solidFill>
              <a:srgbClr val="F2C9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23BEC6-4244-417D-B08B-CA92D2BA7814}"/>
              </a:ext>
            </a:extLst>
          </p:cNvPr>
          <p:cNvSpPr txBox="1"/>
          <p:nvPr/>
        </p:nvSpPr>
        <p:spPr>
          <a:xfrm>
            <a:off x="4749800" y="21082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000" b="1">
                <a:solidFill>
                  <a:srgbClr val="FF6B35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FA7772-1F89-33D0-0C5D-653EA71A0E17}"/>
              </a:ext>
            </a:extLst>
          </p:cNvPr>
          <p:cNvSpPr txBox="1"/>
          <p:nvPr/>
        </p:nvSpPr>
        <p:spPr>
          <a:xfrm>
            <a:off x="5359400" y="2159000"/>
            <a:ext cx="1803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900" b="1">
                <a:solidFill>
                  <a:srgbClr val="101820"/>
                </a:solidFill>
                <a:latin typeface="Aptos" panose="020B0004020202020204" pitchFamily="34" charset="0"/>
              </a:rPr>
              <a:t>Model improvement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6206A2-B5B6-EA64-183E-37637D3C90B4}"/>
              </a:ext>
            </a:extLst>
          </p:cNvPr>
          <p:cNvSpPr txBox="1"/>
          <p:nvPr/>
        </p:nvSpPr>
        <p:spPr>
          <a:xfrm>
            <a:off x="4749800" y="28702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>
                <a:solidFill>
                  <a:srgbClr val="303A3A"/>
                </a:solidFill>
                <a:latin typeface="Aptos" panose="020B0004020202020204" pitchFamily="34" charset="0"/>
              </a:rPr>
              <a:t>Curated weathered-nurdle dataset, class balancing, and YOLOv8s/m on Jetson Orin Nano.</a:t>
            </a:r>
            <a:endParaRPr lang="en-IN" sz="1600">
              <a:solidFill>
                <a:srgbClr val="303A3A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57C5B6-AD75-9C4A-3202-7726A7785E83}"/>
              </a:ext>
            </a:extLst>
          </p:cNvPr>
          <p:cNvSpPr/>
          <p:nvPr/>
        </p:nvSpPr>
        <p:spPr>
          <a:xfrm>
            <a:off x="8255000" y="1854200"/>
            <a:ext cx="2971800" cy="2768600"/>
          </a:xfrm>
          <a:prstGeom prst="rect">
            <a:avLst/>
          </a:prstGeom>
          <a:solidFill>
            <a:srgbClr val="F5FAFA"/>
          </a:solidFill>
          <a:ln w="12700">
            <a:solidFill>
              <a:srgbClr val="D6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C6D5EC-2C12-98D2-9549-50D94675B4F3}"/>
              </a:ext>
            </a:extLst>
          </p:cNvPr>
          <p:cNvSpPr txBox="1"/>
          <p:nvPr/>
        </p:nvSpPr>
        <p:spPr>
          <a:xfrm>
            <a:off x="8509000" y="21082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000" b="1">
                <a:solidFill>
                  <a:srgbClr val="008C9E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534EB9-2270-18F9-A2D2-53273BB52B24}"/>
              </a:ext>
            </a:extLst>
          </p:cNvPr>
          <p:cNvSpPr txBox="1"/>
          <p:nvPr/>
        </p:nvSpPr>
        <p:spPr>
          <a:xfrm>
            <a:off x="9118600" y="21590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900" b="1">
                <a:solidFill>
                  <a:srgbClr val="101820"/>
                </a:solidFill>
                <a:latin typeface="Aptos" panose="020B0004020202020204" pitchFamily="34" charset="0"/>
              </a:rPr>
              <a:t>Polymer ID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129083-3677-0EA3-50D2-BFF175FA554C}"/>
              </a:ext>
            </a:extLst>
          </p:cNvPr>
          <p:cNvSpPr txBox="1"/>
          <p:nvPr/>
        </p:nvSpPr>
        <p:spPr>
          <a:xfrm>
            <a:off x="8509000" y="28702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>
                <a:solidFill>
                  <a:srgbClr val="303A3A"/>
                </a:solidFill>
                <a:latin typeface="Aptos" panose="020B0004020202020204" pitchFamily="34" charset="0"/>
              </a:rPr>
              <a:t>Miniature Raman or VIS-NIR sensing at the evidence cartridge to complete the NurdleDNA paradigm.</a:t>
            </a:r>
            <a:endParaRPr lang="en-IN" sz="1600">
              <a:solidFill>
                <a:srgbClr val="303A3A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0EDD0C-DD63-A82C-8CB9-431B4DC5215D}"/>
              </a:ext>
            </a:extLst>
          </p:cNvPr>
          <p:cNvSpPr txBox="1"/>
          <p:nvPr/>
        </p:nvSpPr>
        <p:spPr>
          <a:xfrm>
            <a:off x="1422400" y="5308600"/>
            <a:ext cx="914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700" b="1">
                <a:solidFill>
                  <a:srgbClr val="303A3A"/>
                </a:solidFill>
                <a:latin typeface="Aptos" panose="020B0004020202020204" pitchFamily="34" charset="0"/>
              </a:rPr>
              <a:t>The roadmap preserves the architecture: detect locally, contain physically, and log evidence in a way that scales from one bay to many.</a:t>
            </a:r>
            <a:endParaRPr lang="en-IN" sz="1700" b="1">
              <a:solidFill>
                <a:srgbClr val="303A3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2225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5C3615-6FC3-3971-A993-358C48E5F9EC}"/>
              </a:ext>
            </a:extLst>
          </p:cNvPr>
          <p:cNvSpPr txBox="1"/>
          <p:nvPr/>
        </p:nvSpPr>
        <p:spPr>
          <a:xfrm>
            <a:off x="914400" y="1041400"/>
            <a:ext cx="1003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3500" b="1">
                <a:solidFill>
                  <a:srgbClr val="101820"/>
                </a:solidFill>
                <a:latin typeface="Aptos" panose="020B0004020202020204" pitchFamily="34" charset="0"/>
              </a:rPr>
              <a:t>NurdleDNA turns microplastic monitoring into a closed-loop response system.</a:t>
            </a:r>
            <a:endParaRPr lang="en-IN" sz="3500" b="1">
              <a:solidFill>
                <a:srgbClr val="101820"/>
              </a:solidFill>
              <a:latin typeface="Aptos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6519CF-F398-5EC3-8BFB-BA9556E9E5C0}"/>
              </a:ext>
            </a:extLst>
          </p:cNvPr>
          <p:cNvSpPr/>
          <p:nvPr/>
        </p:nvSpPr>
        <p:spPr>
          <a:xfrm>
            <a:off x="1371600" y="3200400"/>
            <a:ext cx="2794000" cy="147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F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DEF9F5-9CBE-DA38-267B-7364A4637AC0}"/>
              </a:ext>
            </a:extLst>
          </p:cNvPr>
          <p:cNvSpPr txBox="1"/>
          <p:nvPr/>
        </p:nvSpPr>
        <p:spPr>
          <a:xfrm>
            <a:off x="1676400" y="33020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2200" b="1">
                <a:solidFill>
                  <a:srgbClr val="008C9E"/>
                </a:solidFill>
                <a:latin typeface="Aptos" panose="020B0004020202020204" pitchFamily="34" charset="0"/>
              </a:rPr>
              <a:t>Detect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C337A0-18E7-A9D1-BA49-F0888499DCBB}"/>
              </a:ext>
            </a:extLst>
          </p:cNvPr>
          <p:cNvSpPr txBox="1"/>
          <p:nvPr/>
        </p:nvSpPr>
        <p:spPr>
          <a:xfrm>
            <a:off x="1676400" y="38354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>
                <a:solidFill>
                  <a:srgbClr val="303A3A"/>
                </a:solidFill>
                <a:latin typeface="Aptos" panose="020B0004020202020204" pitchFamily="34" charset="0"/>
              </a:rPr>
              <a:t>AI vision and sensor fusion identify a persistent hazard.</a:t>
            </a:r>
            <a:endParaRPr lang="en-IN" sz="1500">
              <a:solidFill>
                <a:srgbClr val="303A3A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37B0EF-DCC2-D38F-41B5-48F632047FA0}"/>
              </a:ext>
            </a:extLst>
          </p:cNvPr>
          <p:cNvSpPr/>
          <p:nvPr/>
        </p:nvSpPr>
        <p:spPr>
          <a:xfrm>
            <a:off x="4699000" y="3200400"/>
            <a:ext cx="2794000" cy="147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F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65E224-B0F7-6E28-E801-BC0C6EF688B5}"/>
              </a:ext>
            </a:extLst>
          </p:cNvPr>
          <p:cNvSpPr txBox="1"/>
          <p:nvPr/>
        </p:nvSpPr>
        <p:spPr>
          <a:xfrm>
            <a:off x="5003800" y="33020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2200" b="1">
                <a:solidFill>
                  <a:srgbClr val="C2501B"/>
                </a:solidFill>
                <a:latin typeface="Aptos" panose="020B0004020202020204" pitchFamily="34" charset="0"/>
              </a:rPr>
              <a:t>Contain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A9EFE8-5DE3-FF42-E254-E35C53B420BD}"/>
              </a:ext>
            </a:extLst>
          </p:cNvPr>
          <p:cNvSpPr txBox="1"/>
          <p:nvPr/>
        </p:nvSpPr>
        <p:spPr>
          <a:xfrm>
            <a:off x="5003800" y="38354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>
                <a:solidFill>
                  <a:srgbClr val="303A3A"/>
                </a:solidFill>
                <a:latin typeface="Aptos" panose="020B0004020202020204" pitchFamily="34" charset="0"/>
              </a:rPr>
              <a:t>A deterministic Arduino FSM closes the physical flow path.</a:t>
            </a:r>
            <a:endParaRPr lang="en-IN" sz="1500">
              <a:solidFill>
                <a:srgbClr val="303A3A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004EC9-F9B6-38B9-E629-106807969357}"/>
              </a:ext>
            </a:extLst>
          </p:cNvPr>
          <p:cNvSpPr/>
          <p:nvPr/>
        </p:nvSpPr>
        <p:spPr>
          <a:xfrm>
            <a:off x="8026400" y="3194816"/>
            <a:ext cx="2794000" cy="147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F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3F8950-A8D7-1695-9CEB-A81660B56F97}"/>
              </a:ext>
            </a:extLst>
          </p:cNvPr>
          <p:cNvSpPr txBox="1"/>
          <p:nvPr/>
        </p:nvSpPr>
        <p:spPr>
          <a:xfrm>
            <a:off x="8331200" y="33020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2200" b="1">
                <a:solidFill>
                  <a:srgbClr val="008C9E"/>
                </a:solidFill>
                <a:latin typeface="Aptos" panose="020B0004020202020204" pitchFamily="34" charset="0"/>
              </a:rPr>
              <a:t>Prove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244DC8-9768-22EA-B56D-D03253E0D2CE}"/>
              </a:ext>
            </a:extLst>
          </p:cNvPr>
          <p:cNvSpPr txBox="1"/>
          <p:nvPr/>
        </p:nvSpPr>
        <p:spPr>
          <a:xfrm>
            <a:off x="8331200" y="38354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>
                <a:solidFill>
                  <a:srgbClr val="303A3A"/>
                </a:solidFill>
                <a:latin typeface="Aptos" panose="020B0004020202020204" pitchFamily="34" charset="0"/>
              </a:rPr>
              <a:t>Captured mass, frames, and cloud logs create an audit trail.</a:t>
            </a:r>
            <a:endParaRPr lang="en-IN" sz="1500">
              <a:solidFill>
                <a:srgbClr val="303A3A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871162-F63E-2DB6-162E-821DC1D669DC}"/>
              </a:ext>
            </a:extLst>
          </p:cNvPr>
          <p:cNvSpPr txBox="1"/>
          <p:nvPr/>
        </p:nvSpPr>
        <p:spPr>
          <a:xfrm>
            <a:off x="2946400" y="5334000"/>
            <a:ext cx="6299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300" b="1">
                <a:solidFill>
                  <a:srgbClr val="101820"/>
                </a:solidFill>
                <a:latin typeface="Aptos" panose="020B0004020202020204" pitchFamily="34" charset="0"/>
              </a:rPr>
              <a:t>Thank you. I am happy to take questions.</a:t>
            </a:r>
            <a:endParaRPr lang="en-IN" sz="2300" b="1">
              <a:solidFill>
                <a:srgbClr val="101820"/>
              </a:solidFill>
              <a:latin typeface="Aptos" panose="020B000402020202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493B1C9-BE29-13F3-E3B9-9FB2803A7BFA}"/>
              </a:ext>
            </a:extLst>
          </p:cNvPr>
          <p:cNvCxnSpPr/>
          <p:nvPr/>
        </p:nvCxnSpPr>
        <p:spPr>
          <a:xfrm>
            <a:off x="533400" y="6350000"/>
            <a:ext cx="11125200" cy="0"/>
          </a:xfrm>
          <a:prstGeom prst="line">
            <a:avLst/>
          </a:prstGeom>
          <a:ln w="15240">
            <a:solidFill>
              <a:srgbClr val="D2D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1D40015-E0EB-5B16-5A99-B237FF8298FA}"/>
              </a:ext>
            </a:extLst>
          </p:cNvPr>
          <p:cNvSpPr txBox="1"/>
          <p:nvPr/>
        </p:nvSpPr>
        <p:spPr>
          <a:xfrm>
            <a:off x="533400" y="65024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ICSIMA2026 backup video | NurdleDNA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D5B77E-5DE6-E536-6F19-DA347AA2FD26}"/>
              </a:ext>
            </a:extLst>
          </p:cNvPr>
          <p:cNvSpPr txBox="1"/>
          <p:nvPr/>
        </p:nvSpPr>
        <p:spPr>
          <a:xfrm>
            <a:off x="10795000" y="6502400"/>
            <a:ext cx="86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34667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1018</Words>
  <Application>Microsoft Office PowerPoint</Application>
  <PresentationFormat>Widescreen</PresentationFormat>
  <Paragraphs>150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Faaz Ali Shahebaz Ali Sayyed</dc:creator>
  <cp:lastModifiedBy>Faaz Ali Shahebaz Ali Sayyed</cp:lastModifiedBy>
  <cp:revision>3</cp:revision>
  <dcterms:created xsi:type="dcterms:W3CDTF">2026-07-02T09:33:19Z</dcterms:created>
  <dcterms:modified xsi:type="dcterms:W3CDTF">2026-07-02T10:07:54Z</dcterms:modified>
</cp:coreProperties>
</file>