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preferSingleView="1"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86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4B575-8547-5038-EBEB-C5F873C4AB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55D74B-36BE-5A69-DF4E-E9C48646C1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6B134D-A225-F21E-5DDD-A3E5E67A9E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0D603-1771-47CE-9FE0-0B8D30EE189F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DA4436-797D-080D-CDFD-367D8D6C6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096BAA-39B0-7837-D2BB-0441BB812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49782-839A-40A4-AAAB-4DA2D1C5E9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49297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465DD-CCCC-3C59-6777-E3DFAF9A6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CFDF07-F72C-5F53-B9AA-9DE2BD4EAB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4F367D-E3CB-9837-6F9C-C13F186CA6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0D603-1771-47CE-9FE0-0B8D30EE189F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3C7029-2C53-8D41-401C-41EA6129C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D6B193-4F4D-B8C5-6D3F-9A2DC66E8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49782-839A-40A4-AAAB-4DA2D1C5E9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9912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CA390-E510-8198-99AA-CE66C9F92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CF049A-877A-EABB-0748-F2552784D2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40D87C-D314-03D3-EEF4-A9AA846FC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0D603-1771-47CE-9FE0-0B8D30EE189F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CCD944-CAAA-DFDB-8DAD-6C09C1018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FFB604-3C6E-25FD-DA8F-E2552EDA8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49782-839A-40A4-AAAB-4DA2D1C5E9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42852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A3063-10DC-6403-952B-28DD7FE88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64577F-498A-AABA-977A-C6BF3AE8BF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B66737-4756-246C-0124-5E9BF7BB03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F415F0-B9D3-2A43-26C4-C0119A299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0D603-1771-47CE-9FE0-0B8D30EE189F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C578CF-FA2A-B28A-E491-4C713EDA6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183A17-FF3A-B49D-EB97-699287DF1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49782-839A-40A4-AAAB-4DA2D1C5E9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1888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559D5-53F5-E0CA-AD55-A575A35DF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DB5C1E-0F2C-C0CC-00CA-F1D6E2E174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D25D3B-6689-FCC5-E33D-3BA934EDC3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E2288A-C988-8837-3C61-081ABB8C08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7EAD9C-823C-43E5-989B-D47C3FC992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84F85D-9929-A9F8-DBD2-514D4EA90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0D603-1771-47CE-9FE0-0B8D30EE189F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A94B2B-CC33-F6EF-9B60-EEE849676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6C2E42-0546-F5C5-CB30-90FCC5D22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49782-839A-40A4-AAAB-4DA2D1C5E9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4326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2BFE7-B99C-BDBC-1843-E36F1F3A0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484A4F-2E99-4F3C-DFCA-C085612BE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0D603-1771-47CE-9FE0-0B8D30EE189F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2E014B-3DF2-0A74-D37E-135124125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41628E-C60A-FC68-0AB0-45102BBB2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49782-839A-40A4-AAAB-4DA2D1C5E9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26717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EC2E28-C723-F350-3DE7-8096FDB5B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0D603-1771-47CE-9FE0-0B8D30EE189F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E867B5-DA26-56CB-D36D-A760A75B7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72B17A-788D-892E-6A4D-1AC900F4D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49782-839A-40A4-AAAB-4DA2D1C5E9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68491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6DC1B-83D3-6783-58A5-140CD4021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AF84B1-DBF3-687A-E298-6B9BDC534F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10B583-DDA0-32AD-A2C5-8BA657525B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4C3ADF-8F9D-8D3E-4DC7-4B3726D0D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0D603-1771-47CE-9FE0-0B8D30EE189F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7C50BD-E7E8-4640-FFB7-09DC7A7DE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520879-4D2B-45AC-D241-AD8C9409B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49782-839A-40A4-AAAB-4DA2D1C5E9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11749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3E06F-7E20-80B8-4F6B-34D12048B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7115FD-A252-D946-5E83-C06CD25817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DDBACA-BCAD-2A5A-2F71-422837D887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192FF3-5A5F-9E2F-8AD8-43CA6373A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0D603-1771-47CE-9FE0-0B8D30EE189F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9E706F-EB48-5858-70FD-BB0F2C3E4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104A45-183D-3693-1E4F-B7BDF35AA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49782-839A-40A4-AAAB-4DA2D1C5E9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05278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9A0AC-0148-039F-49A4-E852EAB0A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C04791-115D-7485-3093-4C0DEF23A1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318700-9BA8-7D46-0BA5-FF3A9BD92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0D603-1771-47CE-9FE0-0B8D30EE189F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46A29B-68E1-672C-8A9B-FFFB26D5B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FE203C-A6FF-DFBB-D1C3-451321D30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49782-839A-40A4-AAAB-4DA2D1C5E9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92351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F4909CE-52B3-EB7B-1106-107054BEA2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68F992-81EB-5827-B55E-F43F329A6D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EC032F-B54F-2AA0-D0CB-CB2C5C4FD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0D603-1771-47CE-9FE0-0B8D30EE189F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58033A-C5A8-2E8A-6FC7-B150F347A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70D03F-AF72-7BDA-2CCF-6F161C175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49782-839A-40A4-AAAB-4DA2D1C5E9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08677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224D77A-C757-4C3B-B12A-48E3A3A65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587580-DF92-F61B-5999-65CD619EE1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4867C5-0C2E-D891-59DC-F838FD6BE0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80D603-1771-47CE-9FE0-0B8D30EE189F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5364C0-E402-F059-99ED-9D794809F9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0F2BC4-649F-3A33-2694-51C9B98CEC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F49782-839A-40A4-AAAB-4DA2D1C5E9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26994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733808E-67CB-1B4F-310D-E82C84750A74}"/>
              </a:ext>
            </a:extLst>
          </p:cNvPr>
          <p:cNvSpPr txBox="1"/>
          <p:nvPr/>
        </p:nvSpPr>
        <p:spPr>
          <a:xfrm>
            <a:off x="533400" y="431800"/>
            <a:ext cx="279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1600" b="1">
                <a:solidFill>
                  <a:srgbClr val="008C9E"/>
                </a:solidFill>
                <a:latin typeface="Aptos" panose="020B0004020202020204" pitchFamily="34" charset="0"/>
              </a:rPr>
              <a:t>ICSIMA2026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6E404B-90F4-7D35-D8B9-80BD789FC760}"/>
              </a:ext>
            </a:extLst>
          </p:cNvPr>
          <p:cNvSpPr txBox="1"/>
          <p:nvPr/>
        </p:nvSpPr>
        <p:spPr>
          <a:xfrm>
            <a:off x="533400" y="1244600"/>
            <a:ext cx="965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600" b="1">
                <a:solidFill>
                  <a:srgbClr val="101820"/>
                </a:solidFill>
                <a:latin typeface="Aptos" panose="020B0004020202020204" pitchFamily="34" charset="0"/>
              </a:rPr>
              <a:t>NurdleDNA: An Edge-AI and Smart IoT Inline System for Source-Level Microplastic Detection</a:t>
            </a:r>
            <a:endParaRPr lang="en-IN" sz="3600" b="1">
              <a:solidFill>
                <a:srgbClr val="101820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D85555-E94C-8A62-0A14-B08009103665}"/>
              </a:ext>
            </a:extLst>
          </p:cNvPr>
          <p:cNvSpPr txBox="1"/>
          <p:nvPr/>
        </p:nvSpPr>
        <p:spPr>
          <a:xfrm>
            <a:off x="533400" y="3200400"/>
            <a:ext cx="965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1700">
                <a:solidFill>
                  <a:srgbClr val="334444"/>
                </a:solidFill>
                <a:latin typeface="Aptos" panose="020B0004020202020204" pitchFamily="34" charset="0"/>
              </a:rPr>
              <a:t>Faaz Ali Sayyed, Muhammad Haaziq, Daniel Joseph Koshy, Mohammed Abdul Rehman, Syed Hasan Ali, Razveen Kashif, and Mohd Fareq Abd Malek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6AA310-9C10-061C-43AB-2575F7D53605}"/>
              </a:ext>
            </a:extLst>
          </p:cNvPr>
          <p:cNvSpPr txBox="1"/>
          <p:nvPr/>
        </p:nvSpPr>
        <p:spPr>
          <a:xfrm>
            <a:off x="533400" y="4038600"/>
            <a:ext cx="660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b="1">
                <a:solidFill>
                  <a:srgbClr val="334444"/>
                </a:solidFill>
                <a:latin typeface="Aptos" panose="020B0004020202020204" pitchFamily="34" charset="0"/>
              </a:rPr>
              <a:t>University of Wollongong in Dubai</a:t>
            </a:r>
            <a:endParaRPr lang="en-IN" b="1">
              <a:solidFill>
                <a:srgbClr val="334444"/>
              </a:solidFill>
              <a:latin typeface="Aptos" panose="020B0004020202020204" pitchFamily="34" charset="0"/>
            </a:endParaRPr>
          </a:p>
        </p:txBody>
      </p:sp>
      <p:pic>
        <p:nvPicPr>
          <p:cNvPr id="7" name="Picture 6" descr="CAD rendering of the NurdleDNA inline device">
            <a:extLst>
              <a:ext uri="{FF2B5EF4-FFF2-40B4-BE49-F238E27FC236}">
                <a16:creationId xmlns:a16="http://schemas.microsoft.com/office/drawing/2014/main" id="{F67D5180-D4E4-A5B0-A3A4-10925032495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2600" y="3810000"/>
            <a:ext cx="2921000" cy="1905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809EC991-2ADB-23DC-2F0D-9B15AA80BEFD}"/>
              </a:ext>
            </a:extLst>
          </p:cNvPr>
          <p:cNvSpPr/>
          <p:nvPr/>
        </p:nvSpPr>
        <p:spPr>
          <a:xfrm>
            <a:off x="533400" y="5334000"/>
            <a:ext cx="6985000" cy="584200"/>
          </a:xfrm>
          <a:prstGeom prst="rect">
            <a:avLst/>
          </a:prstGeom>
          <a:solidFill>
            <a:srgbClr val="ECF7F7"/>
          </a:solidFill>
          <a:ln w="12700">
            <a:solidFill>
              <a:srgbClr val="C9DF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2D400D-E7ED-50BB-B8E4-A33DE3AA77BE}"/>
              </a:ext>
            </a:extLst>
          </p:cNvPr>
          <p:cNvSpPr txBox="1"/>
          <p:nvPr/>
        </p:nvSpPr>
        <p:spPr>
          <a:xfrm>
            <a:off x="736600" y="5486400"/>
            <a:ext cx="660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 b="1">
                <a:solidFill>
                  <a:srgbClr val="134B52"/>
                </a:solidFill>
                <a:latin typeface="Aptos" panose="020B0004020202020204" pitchFamily="34" charset="0"/>
              </a:rPr>
              <a:t>Backup presentation video: 12 minutes maximum, followed by live Q&amp;A</a:t>
            </a:r>
            <a:endParaRPr lang="en-IN" sz="1500" b="1">
              <a:solidFill>
                <a:srgbClr val="134B52"/>
              </a:solidFill>
              <a:latin typeface="Aptos" panose="020B0004020202020204" pitchFamily="34" charset="0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B40959F-692A-4679-EDC2-FFCC35C0AA23}"/>
              </a:ext>
            </a:extLst>
          </p:cNvPr>
          <p:cNvCxnSpPr/>
          <p:nvPr/>
        </p:nvCxnSpPr>
        <p:spPr>
          <a:xfrm>
            <a:off x="533400" y="6350000"/>
            <a:ext cx="11125200" cy="0"/>
          </a:xfrm>
          <a:prstGeom prst="line">
            <a:avLst/>
          </a:prstGeom>
          <a:ln w="15240">
            <a:solidFill>
              <a:srgbClr val="D2DA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D1A53774-CF05-57C2-818C-EC8C207FA2C3}"/>
              </a:ext>
            </a:extLst>
          </p:cNvPr>
          <p:cNvSpPr txBox="1"/>
          <p:nvPr/>
        </p:nvSpPr>
        <p:spPr>
          <a:xfrm>
            <a:off x="533400" y="6502400"/>
            <a:ext cx="457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900">
                <a:solidFill>
                  <a:srgbClr val="647272"/>
                </a:solidFill>
                <a:latin typeface="Aptos" panose="020B0004020202020204" pitchFamily="34" charset="0"/>
              </a:rPr>
              <a:t>ICSIMA2026 backup video | NurdleDNA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59E84B9-272F-BECD-9E97-BD60E255AF73}"/>
              </a:ext>
            </a:extLst>
          </p:cNvPr>
          <p:cNvSpPr txBox="1"/>
          <p:nvPr/>
        </p:nvSpPr>
        <p:spPr>
          <a:xfrm>
            <a:off x="10795000" y="6502400"/>
            <a:ext cx="863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900">
                <a:solidFill>
                  <a:srgbClr val="647272"/>
                </a:solidFill>
                <a:latin typeface="Aptos" panose="020B0004020202020204" pitchFamily="34" charset="0"/>
              </a:rPr>
              <a:t>1 / 12</a:t>
            </a:r>
          </a:p>
        </p:txBody>
      </p:sp>
    </p:spTree>
    <p:extLst>
      <p:ext uri="{BB962C8B-B14F-4D97-AF65-F5344CB8AC3E}">
        <p14:creationId xmlns:p14="http://schemas.microsoft.com/office/powerpoint/2010/main" val="6398399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137D1ED-EBFC-A71E-737F-0F6F74C36E8A}"/>
              </a:ext>
            </a:extLst>
          </p:cNvPr>
          <p:cNvSpPr txBox="1"/>
          <p:nvPr/>
        </p:nvSpPr>
        <p:spPr>
          <a:xfrm>
            <a:off x="533400" y="381000"/>
            <a:ext cx="1104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200" b="1">
                <a:solidFill>
                  <a:srgbClr val="101820"/>
                </a:solidFill>
                <a:latin typeface="Aptos" panose="020B0004020202020204" pitchFamily="34" charset="0"/>
              </a:rPr>
              <a:t>Industrial nurdle leaks need source-level response</a:t>
            </a:r>
            <a:endParaRPr lang="en-IN" sz="3200" b="1">
              <a:solidFill>
                <a:srgbClr val="101820"/>
              </a:solidFill>
              <a:latin typeface="Aptos" panose="020B00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E3D4B6-2C26-DFCD-144C-0BBBEDFA44F2}"/>
              </a:ext>
            </a:extLst>
          </p:cNvPr>
          <p:cNvSpPr txBox="1"/>
          <p:nvPr/>
        </p:nvSpPr>
        <p:spPr>
          <a:xfrm>
            <a:off x="533400" y="1397000"/>
            <a:ext cx="1041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>
                <a:solidFill>
                  <a:srgbClr val="4E5F5F"/>
                </a:solidFill>
                <a:latin typeface="Aptos" panose="020B0004020202020204" pitchFamily="34" charset="0"/>
              </a:rPr>
              <a:t>The problem is not only detecting pellets. It is intercepting them before they leave the discharge point.</a:t>
            </a:r>
            <a:endParaRPr lang="en-IN" sz="1400">
              <a:solidFill>
                <a:srgbClr val="4E5F5F"/>
              </a:solidFill>
              <a:latin typeface="Aptos" panose="020B0004020202020204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C5B19B3-2D61-3047-76F3-2E0E72911563}"/>
              </a:ext>
            </a:extLst>
          </p:cNvPr>
          <p:cNvCxnSpPr/>
          <p:nvPr/>
        </p:nvCxnSpPr>
        <p:spPr>
          <a:xfrm>
            <a:off x="533400" y="6350000"/>
            <a:ext cx="11125200" cy="0"/>
          </a:xfrm>
          <a:prstGeom prst="line">
            <a:avLst/>
          </a:prstGeom>
          <a:ln w="15240">
            <a:solidFill>
              <a:srgbClr val="D2DA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3B358A86-7E34-C464-1050-E388264F061A}"/>
              </a:ext>
            </a:extLst>
          </p:cNvPr>
          <p:cNvSpPr txBox="1"/>
          <p:nvPr/>
        </p:nvSpPr>
        <p:spPr>
          <a:xfrm>
            <a:off x="533400" y="6502400"/>
            <a:ext cx="457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900">
                <a:solidFill>
                  <a:srgbClr val="647272"/>
                </a:solidFill>
                <a:latin typeface="Aptos" panose="020B0004020202020204" pitchFamily="34" charset="0"/>
              </a:rPr>
              <a:t>ICSIMA2026 backup video | NurdleDNA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2E16AF-A069-CA22-AF5E-9B0F4C7ED172}"/>
              </a:ext>
            </a:extLst>
          </p:cNvPr>
          <p:cNvSpPr txBox="1"/>
          <p:nvPr/>
        </p:nvSpPr>
        <p:spPr>
          <a:xfrm>
            <a:off x="10795000" y="6502400"/>
            <a:ext cx="863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900">
                <a:solidFill>
                  <a:srgbClr val="647272"/>
                </a:solidFill>
                <a:latin typeface="Aptos" panose="020B0004020202020204" pitchFamily="34" charset="0"/>
              </a:rPr>
              <a:t>2 / 12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F82270D-BCEB-D8ED-757F-87A6B3F3EF94}"/>
              </a:ext>
            </a:extLst>
          </p:cNvPr>
          <p:cNvSpPr/>
          <p:nvPr/>
        </p:nvSpPr>
        <p:spPr>
          <a:xfrm>
            <a:off x="533400" y="1803400"/>
            <a:ext cx="2159000" cy="1498600"/>
          </a:xfrm>
          <a:prstGeom prst="rect">
            <a:avLst/>
          </a:prstGeom>
          <a:solidFill>
            <a:srgbClr val="F5FAFA"/>
          </a:solidFill>
          <a:ln w="12700">
            <a:solidFill>
              <a:srgbClr val="D6E5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B56858F-5133-AC2A-2E1D-03CA479DCB17}"/>
              </a:ext>
            </a:extLst>
          </p:cNvPr>
          <p:cNvSpPr txBox="1"/>
          <p:nvPr/>
        </p:nvSpPr>
        <p:spPr>
          <a:xfrm>
            <a:off x="736600" y="1981200"/>
            <a:ext cx="1752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3200" b="1">
                <a:solidFill>
                  <a:srgbClr val="008C9E"/>
                </a:solidFill>
                <a:latin typeface="Aptos" panose="020B0004020202020204" pitchFamily="34" charset="0"/>
              </a:rPr>
              <a:t>3-5 mm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89E371-C6B0-B852-06A6-9D81A8D5F8C7}"/>
              </a:ext>
            </a:extLst>
          </p:cNvPr>
          <p:cNvSpPr txBox="1"/>
          <p:nvPr/>
        </p:nvSpPr>
        <p:spPr>
          <a:xfrm>
            <a:off x="736600" y="2590800"/>
            <a:ext cx="1752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1300">
                <a:solidFill>
                  <a:srgbClr val="384848"/>
                </a:solidFill>
                <a:latin typeface="Aptos" panose="020B0004020202020204" pitchFamily="34" charset="0"/>
              </a:rPr>
              <a:t>typical pre-production pellet size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10BD238-FC54-8A19-2F0C-94E2FFDA0FCE}"/>
              </a:ext>
            </a:extLst>
          </p:cNvPr>
          <p:cNvSpPr/>
          <p:nvPr/>
        </p:nvSpPr>
        <p:spPr>
          <a:xfrm>
            <a:off x="2946400" y="1803400"/>
            <a:ext cx="2159000" cy="1498600"/>
          </a:xfrm>
          <a:prstGeom prst="rect">
            <a:avLst/>
          </a:prstGeom>
          <a:solidFill>
            <a:srgbClr val="F5FAFA"/>
          </a:solidFill>
          <a:ln w="12700">
            <a:solidFill>
              <a:srgbClr val="D6E5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5C6471-5ECF-FC14-77C2-D3C3A4AABD95}"/>
              </a:ext>
            </a:extLst>
          </p:cNvPr>
          <p:cNvSpPr txBox="1"/>
          <p:nvPr/>
        </p:nvSpPr>
        <p:spPr>
          <a:xfrm>
            <a:off x="3149600" y="1981200"/>
            <a:ext cx="1752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3200" b="1">
                <a:solidFill>
                  <a:srgbClr val="FF6B35"/>
                </a:solidFill>
                <a:latin typeface="Aptos" panose="020B0004020202020204" pitchFamily="34" charset="0"/>
              </a:rPr>
              <a:t>Real time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D04BCE3-9498-721C-A590-0D2811705F6B}"/>
              </a:ext>
            </a:extLst>
          </p:cNvPr>
          <p:cNvSpPr txBox="1"/>
          <p:nvPr/>
        </p:nvSpPr>
        <p:spPr>
          <a:xfrm>
            <a:off x="3149600" y="2590800"/>
            <a:ext cx="1752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1300">
                <a:solidFill>
                  <a:srgbClr val="384848"/>
                </a:solidFill>
                <a:latin typeface="Aptos" panose="020B0004020202020204" pitchFamily="34" charset="0"/>
              </a:rPr>
              <a:t>required before downstream spread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34F321C-4683-874C-CE94-9DB9E4BDADBF}"/>
              </a:ext>
            </a:extLst>
          </p:cNvPr>
          <p:cNvSpPr/>
          <p:nvPr/>
        </p:nvSpPr>
        <p:spPr>
          <a:xfrm>
            <a:off x="5359400" y="1803400"/>
            <a:ext cx="2159000" cy="1498600"/>
          </a:xfrm>
          <a:prstGeom prst="rect">
            <a:avLst/>
          </a:prstGeom>
          <a:solidFill>
            <a:srgbClr val="F5FAFA"/>
          </a:solidFill>
          <a:ln w="12700">
            <a:solidFill>
              <a:srgbClr val="D6E5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2760FB5-3F5C-29F0-3D56-0883365397EB}"/>
              </a:ext>
            </a:extLst>
          </p:cNvPr>
          <p:cNvSpPr txBox="1"/>
          <p:nvPr/>
        </p:nvSpPr>
        <p:spPr>
          <a:xfrm>
            <a:off x="5562600" y="1981200"/>
            <a:ext cx="1752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3200" b="1">
                <a:solidFill>
                  <a:srgbClr val="008C9E"/>
                </a:solidFill>
                <a:latin typeface="Aptos" panose="020B0004020202020204" pitchFamily="34" charset="0"/>
              </a:rPr>
              <a:t>Source level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ACC4815-A22B-53C4-0339-CDBAD073B1B4}"/>
              </a:ext>
            </a:extLst>
          </p:cNvPr>
          <p:cNvSpPr txBox="1"/>
          <p:nvPr/>
        </p:nvSpPr>
        <p:spPr>
          <a:xfrm>
            <a:off x="5562600" y="2590800"/>
            <a:ext cx="1752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1300">
                <a:solidFill>
                  <a:srgbClr val="384848"/>
                </a:solidFill>
                <a:latin typeface="Aptos" panose="020B0004020202020204" pitchFamily="34" charset="0"/>
              </a:rPr>
              <a:t>where containment still works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223EF57-FE8F-D912-1D1F-5BD391387D24}"/>
              </a:ext>
            </a:extLst>
          </p:cNvPr>
          <p:cNvSpPr txBox="1"/>
          <p:nvPr/>
        </p:nvSpPr>
        <p:spPr>
          <a:xfrm>
            <a:off x="533400" y="3835400"/>
            <a:ext cx="711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rgbClr val="222222"/>
                </a:solidFill>
                <a:latin typeface="Aptos" panose="020B0004020202020204" pitchFamily="34" charset="0"/>
              </a:rPr>
              <a:t>- Manual inspection and passive filters are too slow for active discharge streams</a:t>
            </a:r>
          </a:p>
          <a:p>
            <a:pPr>
              <a:spcAft>
                <a:spcPts val="600"/>
              </a:spcAft>
            </a:pPr>
            <a:r>
              <a:rPr lang="en-US">
                <a:solidFill>
                  <a:srgbClr val="222222"/>
                </a:solidFill>
                <a:latin typeface="Aptos" panose="020B0004020202020204" pitchFamily="34" charset="0"/>
              </a:rPr>
              <a:t>- Turbidity or particle counters confuse nurdles with bubbles, sand, and bio-particles</a:t>
            </a:r>
          </a:p>
          <a:p>
            <a:pPr>
              <a:spcAft>
                <a:spcPts val="600"/>
              </a:spcAft>
            </a:pPr>
            <a:r>
              <a:rPr lang="en-US">
                <a:solidFill>
                  <a:srgbClr val="222222"/>
                </a:solidFill>
                <a:latin typeface="Aptos" panose="020B0004020202020204" pitchFamily="34" charset="0"/>
              </a:rPr>
              <a:t>- Laboratory FTIR and Raman methods are accurate, but not inline containment systems</a:t>
            </a:r>
          </a:p>
          <a:p>
            <a:pPr>
              <a:spcAft>
                <a:spcPts val="600"/>
              </a:spcAft>
            </a:pPr>
            <a:r>
              <a:rPr lang="en-US">
                <a:solidFill>
                  <a:srgbClr val="222222"/>
                </a:solidFill>
                <a:latin typeface="Aptos" panose="020B0004020202020204" pitchFamily="34" charset="0"/>
              </a:rPr>
              <a:t>- Industrial drains may also carry VOC or hydrocarbon contamination</a:t>
            </a:r>
            <a:endParaRPr lang="en-IN">
              <a:solidFill>
                <a:srgbClr val="222222"/>
              </a:solidFill>
              <a:latin typeface="Aptos" panose="020B000402020202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A15EB3C-2158-D986-A1F0-6D5C5854E4D1}"/>
              </a:ext>
            </a:extLst>
          </p:cNvPr>
          <p:cNvSpPr/>
          <p:nvPr/>
        </p:nvSpPr>
        <p:spPr>
          <a:xfrm>
            <a:off x="8255000" y="1714500"/>
            <a:ext cx="2794000" cy="3302000"/>
          </a:xfrm>
          <a:prstGeom prst="rect">
            <a:avLst/>
          </a:prstGeom>
          <a:solidFill>
            <a:srgbClr val="FFF7F1"/>
          </a:solidFill>
          <a:ln w="12700">
            <a:solidFill>
              <a:srgbClr val="F2C9A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AEC7BD0-7FFC-6D39-9383-68D155C99FA0}"/>
              </a:ext>
            </a:extLst>
          </p:cNvPr>
          <p:cNvSpPr txBox="1"/>
          <p:nvPr/>
        </p:nvSpPr>
        <p:spPr>
          <a:xfrm>
            <a:off x="8483600" y="1955800"/>
            <a:ext cx="228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1900" b="1">
                <a:solidFill>
                  <a:srgbClr val="C2501B"/>
                </a:solidFill>
                <a:latin typeface="Aptos" panose="020B0004020202020204" pitchFamily="34" charset="0"/>
              </a:rPr>
              <a:t>Core gap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41FB8EB-2EFA-210B-427C-EFC8E933DEBA}"/>
              </a:ext>
            </a:extLst>
          </p:cNvPr>
          <p:cNvSpPr txBox="1"/>
          <p:nvPr/>
        </p:nvSpPr>
        <p:spPr>
          <a:xfrm>
            <a:off x="8483600" y="2489200"/>
            <a:ext cx="2260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700">
                <a:solidFill>
                  <a:srgbClr val="3D332E"/>
                </a:solidFill>
                <a:latin typeface="Aptos" panose="020B0004020202020204" pitchFamily="34" charset="0"/>
              </a:rPr>
              <a:t>Existing approaches can often detect or document contamination, but they do not physically arrest the flow and preserve an audit trail at the source.</a:t>
            </a:r>
            <a:endParaRPr lang="en-IN" sz="1700">
              <a:solidFill>
                <a:srgbClr val="3D332E"/>
              </a:solidFill>
              <a:latin typeface="Aptos" panose="020B00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70EE206-1B1C-AE5E-5CBF-D942B7AFA36C}"/>
              </a:ext>
            </a:extLst>
          </p:cNvPr>
          <p:cNvSpPr txBox="1"/>
          <p:nvPr/>
        </p:nvSpPr>
        <p:spPr>
          <a:xfrm>
            <a:off x="8483600" y="4445000"/>
            <a:ext cx="2260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1700" b="1">
                <a:solidFill>
                  <a:srgbClr val="C2501B"/>
                </a:solidFill>
                <a:latin typeface="Aptos" panose="020B0004020202020204" pitchFamily="34" charset="0"/>
              </a:rPr>
              <a:t>NurdleDNA targets that gap.</a:t>
            </a:r>
          </a:p>
        </p:txBody>
      </p:sp>
    </p:spTree>
    <p:extLst>
      <p:ext uri="{BB962C8B-B14F-4D97-AF65-F5344CB8AC3E}">
        <p14:creationId xmlns:p14="http://schemas.microsoft.com/office/powerpoint/2010/main" val="21300670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2BE7F3C-14FA-96F4-6D72-7FF7050EAEA7}"/>
              </a:ext>
            </a:extLst>
          </p:cNvPr>
          <p:cNvSpPr txBox="1"/>
          <p:nvPr/>
        </p:nvSpPr>
        <p:spPr>
          <a:xfrm>
            <a:off x="533400" y="381000"/>
            <a:ext cx="1104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200" b="1">
                <a:solidFill>
                  <a:srgbClr val="101820"/>
                </a:solidFill>
                <a:latin typeface="Aptos" panose="020B0004020202020204" pitchFamily="34" charset="0"/>
              </a:rPr>
              <a:t>NurdleDNA closes the loop from detection to evidence</a:t>
            </a:r>
            <a:endParaRPr lang="en-IN" sz="3200" b="1">
              <a:solidFill>
                <a:srgbClr val="101820"/>
              </a:solidFill>
              <a:latin typeface="Aptos" panose="020B00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6D31D6-9EE4-71B4-3115-4F6769C29BFC}"/>
              </a:ext>
            </a:extLst>
          </p:cNvPr>
          <p:cNvSpPr txBox="1"/>
          <p:nvPr/>
        </p:nvSpPr>
        <p:spPr>
          <a:xfrm>
            <a:off x="533400" y="1397000"/>
            <a:ext cx="1041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>
                <a:solidFill>
                  <a:srgbClr val="4E5F5F"/>
                </a:solidFill>
                <a:latin typeface="Aptos" panose="020B0004020202020204" pitchFamily="34" charset="0"/>
              </a:rPr>
              <a:t>The system couples AI perception with deterministic actuation and cloud logging.</a:t>
            </a:r>
            <a:endParaRPr lang="en-IN" sz="1400">
              <a:solidFill>
                <a:srgbClr val="4E5F5F"/>
              </a:solidFill>
              <a:latin typeface="Aptos" panose="020B0004020202020204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B876A9F-C9BC-9E04-C381-2F49F044B223}"/>
              </a:ext>
            </a:extLst>
          </p:cNvPr>
          <p:cNvCxnSpPr/>
          <p:nvPr/>
        </p:nvCxnSpPr>
        <p:spPr>
          <a:xfrm>
            <a:off x="533400" y="6350000"/>
            <a:ext cx="11125200" cy="0"/>
          </a:xfrm>
          <a:prstGeom prst="line">
            <a:avLst/>
          </a:prstGeom>
          <a:ln w="15240">
            <a:solidFill>
              <a:srgbClr val="D2DA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C23D597D-42EF-0E0D-72C6-4D26FE83D31C}"/>
              </a:ext>
            </a:extLst>
          </p:cNvPr>
          <p:cNvSpPr txBox="1"/>
          <p:nvPr/>
        </p:nvSpPr>
        <p:spPr>
          <a:xfrm>
            <a:off x="533400" y="6502400"/>
            <a:ext cx="457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900">
                <a:solidFill>
                  <a:srgbClr val="647272"/>
                </a:solidFill>
                <a:latin typeface="Aptos" panose="020B0004020202020204" pitchFamily="34" charset="0"/>
              </a:rPr>
              <a:t>ICSIMA2026 backup video | NurdleDNA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9F73BAC-2595-27D3-38C3-481FD7362CD2}"/>
              </a:ext>
            </a:extLst>
          </p:cNvPr>
          <p:cNvSpPr txBox="1"/>
          <p:nvPr/>
        </p:nvSpPr>
        <p:spPr>
          <a:xfrm>
            <a:off x="10795000" y="6502400"/>
            <a:ext cx="863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900">
                <a:solidFill>
                  <a:srgbClr val="647272"/>
                </a:solidFill>
                <a:latin typeface="Aptos" panose="020B0004020202020204" pitchFamily="34" charset="0"/>
              </a:rPr>
              <a:t>3 / 12</a:t>
            </a:r>
          </a:p>
        </p:txBody>
      </p:sp>
      <p:pic>
        <p:nvPicPr>
          <p:cNvPr id="8" name="Picture 7" descr="System architecture diagram showing wet and dry paths">
            <a:extLst>
              <a:ext uri="{FF2B5EF4-FFF2-40B4-BE49-F238E27FC236}">
                <a16:creationId xmlns:a16="http://schemas.microsoft.com/office/drawing/2014/main" id="{06575C1C-AAD0-6BED-2F94-FAC96869D30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800" y="1809173"/>
            <a:ext cx="4978400" cy="3620655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D2BD70D5-00AB-A8C9-8CC4-C075738B1277}"/>
              </a:ext>
            </a:extLst>
          </p:cNvPr>
          <p:cNvSpPr/>
          <p:nvPr/>
        </p:nvSpPr>
        <p:spPr>
          <a:xfrm>
            <a:off x="6324600" y="2032000"/>
            <a:ext cx="787400" cy="736600"/>
          </a:xfrm>
          <a:prstGeom prst="rect">
            <a:avLst/>
          </a:prstGeom>
          <a:solidFill>
            <a:srgbClr val="EAF7F7"/>
          </a:solidFill>
          <a:ln w="12700">
            <a:solidFill>
              <a:srgbClr val="BF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E94F01A-B957-3674-2F42-23E594B73093}"/>
              </a:ext>
            </a:extLst>
          </p:cNvPr>
          <p:cNvSpPr txBox="1"/>
          <p:nvPr/>
        </p:nvSpPr>
        <p:spPr>
          <a:xfrm>
            <a:off x="6388100" y="2273300"/>
            <a:ext cx="660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IN" sz="1200" b="1">
                <a:solidFill>
                  <a:srgbClr val="0B5962"/>
                </a:solidFill>
                <a:latin typeface="Aptos" panose="020B0004020202020204" pitchFamily="34" charset="0"/>
              </a:rPr>
              <a:t>Detect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6ADE32E-3C12-97A9-3B38-F66805EB9A2D}"/>
              </a:ext>
            </a:extLst>
          </p:cNvPr>
          <p:cNvCxnSpPr/>
          <p:nvPr/>
        </p:nvCxnSpPr>
        <p:spPr>
          <a:xfrm>
            <a:off x="7112000" y="2400300"/>
            <a:ext cx="203200" cy="0"/>
          </a:xfrm>
          <a:prstGeom prst="line">
            <a:avLst/>
          </a:prstGeom>
          <a:ln w="25400">
            <a:solidFill>
              <a:srgbClr val="008C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5784F857-8521-0297-F892-7C1185B905EA}"/>
              </a:ext>
            </a:extLst>
          </p:cNvPr>
          <p:cNvSpPr/>
          <p:nvPr/>
        </p:nvSpPr>
        <p:spPr>
          <a:xfrm>
            <a:off x="7315200" y="2032000"/>
            <a:ext cx="787400" cy="736600"/>
          </a:xfrm>
          <a:prstGeom prst="rect">
            <a:avLst/>
          </a:prstGeom>
          <a:solidFill>
            <a:srgbClr val="EAF7F7"/>
          </a:solidFill>
          <a:ln w="12700">
            <a:solidFill>
              <a:srgbClr val="BF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B8E248A-7D33-FBCC-E349-6A7E67B6AC6B}"/>
              </a:ext>
            </a:extLst>
          </p:cNvPr>
          <p:cNvSpPr txBox="1"/>
          <p:nvPr/>
        </p:nvSpPr>
        <p:spPr>
          <a:xfrm>
            <a:off x="7378700" y="2273300"/>
            <a:ext cx="660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IN" sz="1200" b="1">
                <a:solidFill>
                  <a:srgbClr val="0B5962"/>
                </a:solidFill>
                <a:latin typeface="Aptos" panose="020B0004020202020204" pitchFamily="34" charset="0"/>
              </a:rPr>
              <a:t>Classify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BFF3F6B-C2B5-023B-8FAE-C983AFBFC1E4}"/>
              </a:ext>
            </a:extLst>
          </p:cNvPr>
          <p:cNvCxnSpPr/>
          <p:nvPr/>
        </p:nvCxnSpPr>
        <p:spPr>
          <a:xfrm>
            <a:off x="8102600" y="2400300"/>
            <a:ext cx="203200" cy="0"/>
          </a:xfrm>
          <a:prstGeom prst="line">
            <a:avLst/>
          </a:prstGeom>
          <a:ln w="25400">
            <a:solidFill>
              <a:srgbClr val="008C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F74C17D7-9611-A31A-ECB3-3D3190673C26}"/>
              </a:ext>
            </a:extLst>
          </p:cNvPr>
          <p:cNvSpPr/>
          <p:nvPr/>
        </p:nvSpPr>
        <p:spPr>
          <a:xfrm>
            <a:off x="8305800" y="2032000"/>
            <a:ext cx="787400" cy="736600"/>
          </a:xfrm>
          <a:prstGeom prst="rect">
            <a:avLst/>
          </a:prstGeom>
          <a:solidFill>
            <a:srgbClr val="EAF7F7"/>
          </a:solidFill>
          <a:ln w="12700">
            <a:solidFill>
              <a:srgbClr val="BF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7A0F4C5-D50B-1D1B-DEB5-EB9F83479AD1}"/>
              </a:ext>
            </a:extLst>
          </p:cNvPr>
          <p:cNvSpPr txBox="1"/>
          <p:nvPr/>
        </p:nvSpPr>
        <p:spPr>
          <a:xfrm>
            <a:off x="8369300" y="2273300"/>
            <a:ext cx="660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IN" sz="1200" b="1">
                <a:solidFill>
                  <a:srgbClr val="0B5962"/>
                </a:solidFill>
                <a:latin typeface="Aptos" panose="020B0004020202020204" pitchFamily="34" charset="0"/>
              </a:rPr>
              <a:t>Actuate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EF946DD-A9D6-1FDC-980E-8E3839F777A3}"/>
              </a:ext>
            </a:extLst>
          </p:cNvPr>
          <p:cNvCxnSpPr/>
          <p:nvPr/>
        </p:nvCxnSpPr>
        <p:spPr>
          <a:xfrm>
            <a:off x="9093200" y="2400300"/>
            <a:ext cx="203200" cy="0"/>
          </a:xfrm>
          <a:prstGeom prst="line">
            <a:avLst/>
          </a:prstGeom>
          <a:ln w="25400">
            <a:solidFill>
              <a:srgbClr val="008C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B523FF25-D323-DB5C-E6C3-5BDBE335F8C2}"/>
              </a:ext>
            </a:extLst>
          </p:cNvPr>
          <p:cNvSpPr/>
          <p:nvPr/>
        </p:nvSpPr>
        <p:spPr>
          <a:xfrm>
            <a:off x="9296400" y="2032000"/>
            <a:ext cx="787400" cy="736600"/>
          </a:xfrm>
          <a:prstGeom prst="rect">
            <a:avLst/>
          </a:prstGeom>
          <a:solidFill>
            <a:srgbClr val="EAF7F7"/>
          </a:solidFill>
          <a:ln w="12700">
            <a:solidFill>
              <a:srgbClr val="BF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B9365D0-01F5-9A34-D3FA-C68AE6957179}"/>
              </a:ext>
            </a:extLst>
          </p:cNvPr>
          <p:cNvSpPr txBox="1"/>
          <p:nvPr/>
        </p:nvSpPr>
        <p:spPr>
          <a:xfrm>
            <a:off x="9359900" y="2273300"/>
            <a:ext cx="660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IN" sz="1200" b="1">
                <a:solidFill>
                  <a:srgbClr val="0B5962"/>
                </a:solidFill>
                <a:latin typeface="Aptos" panose="020B0004020202020204" pitchFamily="34" charset="0"/>
              </a:rPr>
              <a:t>Capture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4C5042D-6276-4572-B418-C9A77DE00969}"/>
              </a:ext>
            </a:extLst>
          </p:cNvPr>
          <p:cNvCxnSpPr/>
          <p:nvPr/>
        </p:nvCxnSpPr>
        <p:spPr>
          <a:xfrm>
            <a:off x="10083800" y="2400300"/>
            <a:ext cx="203200" cy="0"/>
          </a:xfrm>
          <a:prstGeom prst="line">
            <a:avLst/>
          </a:prstGeom>
          <a:ln w="25400">
            <a:solidFill>
              <a:srgbClr val="008C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85AE2D77-CF93-D7A3-AAA7-9847695413E2}"/>
              </a:ext>
            </a:extLst>
          </p:cNvPr>
          <p:cNvSpPr/>
          <p:nvPr/>
        </p:nvSpPr>
        <p:spPr>
          <a:xfrm>
            <a:off x="10287000" y="2032000"/>
            <a:ext cx="787400" cy="736600"/>
          </a:xfrm>
          <a:prstGeom prst="rect">
            <a:avLst/>
          </a:prstGeom>
          <a:solidFill>
            <a:srgbClr val="EAF7F7"/>
          </a:solidFill>
          <a:ln w="12700">
            <a:solidFill>
              <a:srgbClr val="BF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F26ECF5-653D-4973-C809-5904E278D06C}"/>
              </a:ext>
            </a:extLst>
          </p:cNvPr>
          <p:cNvSpPr txBox="1"/>
          <p:nvPr/>
        </p:nvSpPr>
        <p:spPr>
          <a:xfrm>
            <a:off x="10350500" y="2273300"/>
            <a:ext cx="660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IN" sz="1200" b="1">
                <a:solidFill>
                  <a:srgbClr val="0B5962"/>
                </a:solidFill>
                <a:latin typeface="Aptos" panose="020B0004020202020204" pitchFamily="34" charset="0"/>
              </a:rPr>
              <a:t>Log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AA07734-302D-F6F0-A0A0-9EBB335E8F34}"/>
              </a:ext>
            </a:extLst>
          </p:cNvPr>
          <p:cNvSpPr txBox="1"/>
          <p:nvPr/>
        </p:nvSpPr>
        <p:spPr>
          <a:xfrm>
            <a:off x="6350000" y="3327400"/>
            <a:ext cx="4953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IN" sz="1700">
                <a:solidFill>
                  <a:srgbClr val="222222"/>
                </a:solidFill>
                <a:latin typeface="Aptos" panose="020B0004020202020204" pitchFamily="34" charset="0"/>
              </a:rPr>
              <a:t>- Camera and optical chamber detect candidate pellets</a:t>
            </a:r>
          </a:p>
          <a:p>
            <a:pPr>
              <a:spcAft>
                <a:spcPts val="600"/>
              </a:spcAft>
            </a:pPr>
            <a:r>
              <a:rPr lang="en-IN" sz="1700">
                <a:solidFill>
                  <a:srgbClr val="222222"/>
                </a:solidFill>
                <a:latin typeface="Aptos" panose="020B0004020202020204" pitchFamily="34" charset="0"/>
              </a:rPr>
              <a:t>- LDR, MQ-135, and temporal logic validate the hazard</a:t>
            </a:r>
          </a:p>
          <a:p>
            <a:pPr>
              <a:spcAft>
                <a:spcPts val="600"/>
              </a:spcAft>
            </a:pPr>
            <a:r>
              <a:rPr lang="en-IN" sz="1700">
                <a:solidFill>
                  <a:srgbClr val="222222"/>
                </a:solidFill>
                <a:latin typeface="Aptos" panose="020B0004020202020204" pitchFamily="34" charset="0"/>
              </a:rPr>
              <a:t>- Arduino FSM closes the servo pinch valve during alarm</a:t>
            </a:r>
          </a:p>
          <a:p>
            <a:pPr>
              <a:spcAft>
                <a:spcPts val="600"/>
              </a:spcAft>
            </a:pPr>
            <a:r>
              <a:rPr lang="en-IN" sz="1700">
                <a:solidFill>
                  <a:srgbClr val="222222"/>
                </a:solidFill>
                <a:latin typeface="Aptos" panose="020B0004020202020204" pitchFamily="34" charset="0"/>
              </a:rPr>
              <a:t>- Load cell measures captured evidence while Firebase stores the event</a:t>
            </a:r>
          </a:p>
        </p:txBody>
      </p:sp>
    </p:spTree>
    <p:extLst>
      <p:ext uri="{BB962C8B-B14F-4D97-AF65-F5344CB8AC3E}">
        <p14:creationId xmlns:p14="http://schemas.microsoft.com/office/powerpoint/2010/main" val="6930008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64B1A39-664C-CD75-3782-387908DCD82A}"/>
              </a:ext>
            </a:extLst>
          </p:cNvPr>
          <p:cNvSpPr txBox="1"/>
          <p:nvPr/>
        </p:nvSpPr>
        <p:spPr>
          <a:xfrm>
            <a:off x="533400" y="381000"/>
            <a:ext cx="1104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200" b="1">
                <a:solidFill>
                  <a:srgbClr val="101820"/>
                </a:solidFill>
                <a:latin typeface="Aptos" panose="020B0004020202020204" pitchFamily="34" charset="0"/>
              </a:rPr>
              <a:t>The prototype separates probabilistic AI from safety control</a:t>
            </a:r>
            <a:endParaRPr lang="en-IN" sz="3200" b="1">
              <a:solidFill>
                <a:srgbClr val="101820"/>
              </a:solidFill>
              <a:latin typeface="Aptos" panose="020B00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4EAC14-AB21-C1F1-3C30-5C4B8103B20D}"/>
              </a:ext>
            </a:extLst>
          </p:cNvPr>
          <p:cNvSpPr txBox="1"/>
          <p:nvPr/>
        </p:nvSpPr>
        <p:spPr>
          <a:xfrm>
            <a:off x="533400" y="1397000"/>
            <a:ext cx="1041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>
                <a:solidFill>
                  <a:srgbClr val="4E5F5F"/>
                </a:solidFill>
                <a:latin typeface="Aptos" panose="020B0004020202020204" pitchFamily="34" charset="0"/>
              </a:rPr>
              <a:t>Jetson handles inference and cloud publishing; Arduino owns deterministic containment.</a:t>
            </a:r>
            <a:endParaRPr lang="en-IN" sz="1400">
              <a:solidFill>
                <a:srgbClr val="4E5F5F"/>
              </a:solidFill>
              <a:latin typeface="Aptos" panose="020B0004020202020204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A9464FA-6BB4-A42A-2D27-BBBD08322CFF}"/>
              </a:ext>
            </a:extLst>
          </p:cNvPr>
          <p:cNvCxnSpPr/>
          <p:nvPr/>
        </p:nvCxnSpPr>
        <p:spPr>
          <a:xfrm>
            <a:off x="533400" y="6350000"/>
            <a:ext cx="11125200" cy="0"/>
          </a:xfrm>
          <a:prstGeom prst="line">
            <a:avLst/>
          </a:prstGeom>
          <a:ln w="15240">
            <a:solidFill>
              <a:srgbClr val="D2DA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55B33E75-6B80-04B2-2F95-0F3B8218F5C9}"/>
              </a:ext>
            </a:extLst>
          </p:cNvPr>
          <p:cNvSpPr txBox="1"/>
          <p:nvPr/>
        </p:nvSpPr>
        <p:spPr>
          <a:xfrm>
            <a:off x="533400" y="6502400"/>
            <a:ext cx="457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900">
                <a:solidFill>
                  <a:srgbClr val="647272"/>
                </a:solidFill>
                <a:latin typeface="Aptos" panose="020B0004020202020204" pitchFamily="34" charset="0"/>
              </a:rPr>
              <a:t>ICSIMA2026 backup video | NurdleDNA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801E3D-0E5F-29E1-DA5C-ADED2AE4A91D}"/>
              </a:ext>
            </a:extLst>
          </p:cNvPr>
          <p:cNvSpPr txBox="1"/>
          <p:nvPr/>
        </p:nvSpPr>
        <p:spPr>
          <a:xfrm>
            <a:off x="10795000" y="6502400"/>
            <a:ext cx="863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900">
                <a:solidFill>
                  <a:srgbClr val="647272"/>
                </a:solidFill>
                <a:latin typeface="Aptos" panose="020B0004020202020204" pitchFamily="34" charset="0"/>
              </a:rPr>
              <a:t>4 / 12</a:t>
            </a:r>
          </a:p>
        </p:txBody>
      </p:sp>
      <p:pic>
        <p:nvPicPr>
          <p:cNvPr id="8" name="Picture 7" descr="Assembled NurdleDNA prototype with supporting visualizations">
            <a:extLst>
              <a:ext uri="{FF2B5EF4-FFF2-40B4-BE49-F238E27FC236}">
                <a16:creationId xmlns:a16="http://schemas.microsoft.com/office/drawing/2014/main" id="{1CFA01CE-90B4-6A66-CFCA-14FA0FAD5D6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00" y="1995880"/>
            <a:ext cx="4978400" cy="1291440"/>
          </a:xfrm>
          <a:prstGeom prst="rect">
            <a:avLst/>
          </a:prstGeom>
        </p:spPr>
      </p:pic>
      <p:pic>
        <p:nvPicPr>
          <p:cNvPr id="10" name="Picture 9" descr="Full system architecture from the accepted paper">
            <a:extLst>
              <a:ext uri="{FF2B5EF4-FFF2-40B4-BE49-F238E27FC236}">
                <a16:creationId xmlns:a16="http://schemas.microsoft.com/office/drawing/2014/main" id="{D923B1D4-19F3-706A-B8A8-50AEEA6C2DCD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8337" y="3810000"/>
            <a:ext cx="2699026" cy="19812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AA9A7F6-D505-4EBD-043E-8A8047D28517}"/>
              </a:ext>
            </a:extLst>
          </p:cNvPr>
          <p:cNvSpPr/>
          <p:nvPr/>
        </p:nvSpPr>
        <p:spPr>
          <a:xfrm>
            <a:off x="6248400" y="1752600"/>
            <a:ext cx="2159000" cy="3175000"/>
          </a:xfrm>
          <a:prstGeom prst="rect">
            <a:avLst/>
          </a:prstGeom>
          <a:solidFill>
            <a:srgbClr val="F5FAFA"/>
          </a:solidFill>
          <a:ln w="12700">
            <a:solidFill>
              <a:srgbClr val="D6E5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FAAEC29-CDAB-4729-16C8-B5DA769AA4C2}"/>
              </a:ext>
            </a:extLst>
          </p:cNvPr>
          <p:cNvSpPr txBox="1"/>
          <p:nvPr/>
        </p:nvSpPr>
        <p:spPr>
          <a:xfrm>
            <a:off x="6477000" y="1981200"/>
            <a:ext cx="165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2000" b="1">
                <a:solidFill>
                  <a:srgbClr val="008C9E"/>
                </a:solidFill>
                <a:latin typeface="Aptos" panose="020B0004020202020204" pitchFamily="34" charset="0"/>
              </a:rPr>
              <a:t>Jetson Nano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95D6BC9-6156-DF4D-3B2B-C155CFD8A441}"/>
              </a:ext>
            </a:extLst>
          </p:cNvPr>
          <p:cNvSpPr txBox="1"/>
          <p:nvPr/>
        </p:nvSpPr>
        <p:spPr>
          <a:xfrm>
            <a:off x="6477000" y="2565400"/>
            <a:ext cx="165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sz="1500">
                <a:solidFill>
                  <a:srgbClr val="222222"/>
                </a:solidFill>
                <a:latin typeface="Aptos" panose="020B0004020202020204" pitchFamily="34" charset="0"/>
              </a:rPr>
              <a:t>- YOLOv8n and OpenCV</a:t>
            </a:r>
          </a:p>
          <a:p>
            <a:pPr>
              <a:spcAft>
                <a:spcPts val="600"/>
              </a:spcAft>
            </a:pPr>
            <a:r>
              <a:rPr lang="en-US" sz="1500">
                <a:solidFill>
                  <a:srgbClr val="222222"/>
                </a:solidFill>
                <a:latin typeface="Aptos" panose="020B0004020202020204" pitchFamily="34" charset="0"/>
              </a:rPr>
              <a:t>- JPEG evidence frame</a:t>
            </a:r>
          </a:p>
          <a:p>
            <a:pPr>
              <a:spcAft>
                <a:spcPts val="600"/>
              </a:spcAft>
            </a:pPr>
            <a:r>
              <a:rPr lang="en-US" sz="1500">
                <a:solidFill>
                  <a:srgbClr val="222222"/>
                </a:solidFill>
                <a:latin typeface="Aptos" panose="020B0004020202020204" pitchFamily="34" charset="0"/>
              </a:rPr>
              <a:t>- Firebase publish</a:t>
            </a:r>
          </a:p>
          <a:p>
            <a:pPr>
              <a:spcAft>
                <a:spcPts val="600"/>
              </a:spcAft>
            </a:pPr>
            <a:r>
              <a:rPr lang="en-US" sz="1500">
                <a:solidFill>
                  <a:srgbClr val="222222"/>
                </a:solidFill>
                <a:latin typeface="Aptos" panose="020B0004020202020204" pitchFamily="34" charset="0"/>
              </a:rPr>
              <a:t>- Dashboard feed</a:t>
            </a:r>
            <a:endParaRPr lang="en-IN" sz="1500">
              <a:solidFill>
                <a:srgbClr val="222222"/>
              </a:solidFill>
              <a:latin typeface="Aptos" panose="020B00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19108DA-B608-D13E-53A3-EE61C5A20D61}"/>
              </a:ext>
            </a:extLst>
          </p:cNvPr>
          <p:cNvSpPr/>
          <p:nvPr/>
        </p:nvSpPr>
        <p:spPr>
          <a:xfrm>
            <a:off x="8788400" y="1752600"/>
            <a:ext cx="2159000" cy="3175000"/>
          </a:xfrm>
          <a:prstGeom prst="rect">
            <a:avLst/>
          </a:prstGeom>
          <a:solidFill>
            <a:srgbClr val="FFF7F1"/>
          </a:solidFill>
          <a:ln w="12700">
            <a:solidFill>
              <a:srgbClr val="F2C9A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B55C5FC-B41E-B8AB-072F-D5BA375190CA}"/>
              </a:ext>
            </a:extLst>
          </p:cNvPr>
          <p:cNvSpPr txBox="1"/>
          <p:nvPr/>
        </p:nvSpPr>
        <p:spPr>
          <a:xfrm>
            <a:off x="9017000" y="1981200"/>
            <a:ext cx="165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2000" b="1">
                <a:solidFill>
                  <a:srgbClr val="C2501B"/>
                </a:solidFill>
                <a:latin typeface="Aptos" panose="020B0004020202020204" pitchFamily="34" charset="0"/>
              </a:rPr>
              <a:t>Arduino Uno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2B7CFA7-0A4F-997D-7F13-39A66BB374C2}"/>
              </a:ext>
            </a:extLst>
          </p:cNvPr>
          <p:cNvSpPr txBox="1"/>
          <p:nvPr/>
        </p:nvSpPr>
        <p:spPr>
          <a:xfrm>
            <a:off x="9017000" y="2565400"/>
            <a:ext cx="165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sz="1500">
                <a:solidFill>
                  <a:srgbClr val="222222"/>
                </a:solidFill>
                <a:latin typeface="Aptos" panose="020B0004020202020204" pitchFamily="34" charset="0"/>
              </a:rPr>
              <a:t>- LDR and MQ-135</a:t>
            </a:r>
          </a:p>
          <a:p>
            <a:pPr>
              <a:spcAft>
                <a:spcPts val="600"/>
              </a:spcAft>
            </a:pPr>
            <a:r>
              <a:rPr lang="en-US" sz="1500">
                <a:solidFill>
                  <a:srgbClr val="222222"/>
                </a:solidFill>
                <a:latin typeface="Aptos" panose="020B0004020202020204" pitchFamily="34" charset="0"/>
              </a:rPr>
              <a:t>- Load cell via HX711</a:t>
            </a:r>
          </a:p>
          <a:p>
            <a:pPr>
              <a:spcAft>
                <a:spcPts val="600"/>
              </a:spcAft>
            </a:pPr>
            <a:r>
              <a:rPr lang="en-US" sz="1500">
                <a:solidFill>
                  <a:srgbClr val="222222"/>
                </a:solidFill>
                <a:latin typeface="Aptos" panose="020B0004020202020204" pitchFamily="34" charset="0"/>
              </a:rPr>
              <a:t>- Moore FSM</a:t>
            </a:r>
          </a:p>
          <a:p>
            <a:pPr>
              <a:spcAft>
                <a:spcPts val="600"/>
              </a:spcAft>
            </a:pPr>
            <a:r>
              <a:rPr lang="en-US" sz="1500">
                <a:solidFill>
                  <a:srgbClr val="222222"/>
                </a:solidFill>
                <a:latin typeface="Aptos" panose="020B0004020202020204" pitchFamily="34" charset="0"/>
              </a:rPr>
              <a:t>- Servo pinch valve</a:t>
            </a:r>
            <a:endParaRPr lang="en-IN" sz="1500">
              <a:solidFill>
                <a:srgbClr val="222222"/>
              </a:solidFill>
              <a:latin typeface="Aptos" panose="020B00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AFFF0E5-C4FE-72F2-8AE7-36249ABD3912}"/>
              </a:ext>
            </a:extLst>
          </p:cNvPr>
          <p:cNvSpPr txBox="1"/>
          <p:nvPr/>
        </p:nvSpPr>
        <p:spPr>
          <a:xfrm>
            <a:off x="6248400" y="5232400"/>
            <a:ext cx="469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600">
                <a:solidFill>
                  <a:srgbClr val="303A3A"/>
                </a:solidFill>
                <a:latin typeface="Aptos" panose="020B0004020202020204" pitchFamily="34" charset="0"/>
              </a:rPr>
              <a:t>Design intent: if AI confidence is uncertain or cloud connectivity fails, physical containment still remains under deterministic local control.</a:t>
            </a:r>
            <a:endParaRPr lang="en-IN" sz="1600">
              <a:solidFill>
                <a:srgbClr val="303A3A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50906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858BAA1-8649-8A3D-5A40-9F3B8ED8EB8E}"/>
              </a:ext>
            </a:extLst>
          </p:cNvPr>
          <p:cNvSpPr txBox="1"/>
          <p:nvPr/>
        </p:nvSpPr>
        <p:spPr>
          <a:xfrm>
            <a:off x="533400" y="381000"/>
            <a:ext cx="1104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200" b="1">
                <a:solidFill>
                  <a:srgbClr val="101820"/>
                </a:solidFill>
                <a:latin typeface="Aptos" panose="020B0004020202020204" pitchFamily="34" charset="0"/>
              </a:rPr>
              <a:t>The vision model is useful, but it is not trusted alone</a:t>
            </a:r>
            <a:endParaRPr lang="en-IN" sz="3200" b="1">
              <a:solidFill>
                <a:srgbClr val="101820"/>
              </a:solidFill>
              <a:latin typeface="Aptos" panose="020B00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DE57D9-BA7E-0122-723D-03BC1F878570}"/>
              </a:ext>
            </a:extLst>
          </p:cNvPr>
          <p:cNvSpPr txBox="1"/>
          <p:nvPr/>
        </p:nvSpPr>
        <p:spPr>
          <a:xfrm>
            <a:off x="533400" y="1397000"/>
            <a:ext cx="1041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>
                <a:solidFill>
                  <a:srgbClr val="4E5F5F"/>
                </a:solidFill>
                <a:latin typeface="Aptos" panose="020B0004020202020204" pitchFamily="34" charset="0"/>
              </a:rPr>
              <a:t>The paper treats YOLO as one probabilistic signal inside a wider sensor-fusion decision.</a:t>
            </a:r>
            <a:endParaRPr lang="en-IN" sz="1400">
              <a:solidFill>
                <a:srgbClr val="4E5F5F"/>
              </a:solidFill>
              <a:latin typeface="Aptos" panose="020B0004020202020204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66C98A0-2CF0-A01E-FA80-7EAFD602B2A1}"/>
              </a:ext>
            </a:extLst>
          </p:cNvPr>
          <p:cNvCxnSpPr/>
          <p:nvPr/>
        </p:nvCxnSpPr>
        <p:spPr>
          <a:xfrm>
            <a:off x="533400" y="6350000"/>
            <a:ext cx="11125200" cy="0"/>
          </a:xfrm>
          <a:prstGeom prst="line">
            <a:avLst/>
          </a:prstGeom>
          <a:ln w="15240">
            <a:solidFill>
              <a:srgbClr val="D2DA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46366BA0-0C31-772D-E505-07782463776E}"/>
              </a:ext>
            </a:extLst>
          </p:cNvPr>
          <p:cNvSpPr txBox="1"/>
          <p:nvPr/>
        </p:nvSpPr>
        <p:spPr>
          <a:xfrm>
            <a:off x="533400" y="6502400"/>
            <a:ext cx="457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900">
                <a:solidFill>
                  <a:srgbClr val="647272"/>
                </a:solidFill>
                <a:latin typeface="Aptos" panose="020B0004020202020204" pitchFamily="34" charset="0"/>
              </a:rPr>
              <a:t>ICSIMA2026 backup video | NurdleDNA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6F3BE3-BF9C-F9D8-0A3E-9BCDE6A22F9B}"/>
              </a:ext>
            </a:extLst>
          </p:cNvPr>
          <p:cNvSpPr txBox="1"/>
          <p:nvPr/>
        </p:nvSpPr>
        <p:spPr>
          <a:xfrm>
            <a:off x="10795000" y="6502400"/>
            <a:ext cx="863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900">
                <a:solidFill>
                  <a:srgbClr val="647272"/>
                </a:solidFill>
                <a:latin typeface="Aptos" panose="020B0004020202020204" pitchFamily="34" charset="0"/>
              </a:rPr>
              <a:t>5 / 12</a:t>
            </a:r>
          </a:p>
        </p:txBody>
      </p:sp>
      <p:pic>
        <p:nvPicPr>
          <p:cNvPr id="8" name="Picture 7" descr="YOLOv8n detection output in the optical flow cell">
            <a:extLst>
              <a:ext uri="{FF2B5EF4-FFF2-40B4-BE49-F238E27FC236}">
                <a16:creationId xmlns:a16="http://schemas.microsoft.com/office/drawing/2014/main" id="{6B2F746B-029A-69A0-918A-36F7A1DB091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638" y="1752600"/>
            <a:ext cx="3511324" cy="2870200"/>
          </a:xfrm>
          <a:prstGeom prst="rect">
            <a:avLst/>
          </a:prstGeom>
        </p:spPr>
      </p:pic>
      <p:pic>
        <p:nvPicPr>
          <p:cNvPr id="10" name="Picture 9" descr="YOLOv8n validation metrics over 25 epochs">
            <a:extLst>
              <a:ext uri="{FF2B5EF4-FFF2-40B4-BE49-F238E27FC236}">
                <a16:creationId xmlns:a16="http://schemas.microsoft.com/office/drawing/2014/main" id="{A1456502-08E2-1D5B-2798-D88B76BFA3D1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4884" y="1752600"/>
            <a:ext cx="3174033" cy="2209800"/>
          </a:xfrm>
          <a:prstGeom prst="rect">
            <a:avLst/>
          </a:prstGeom>
        </p:spPr>
      </p:pic>
      <p:pic>
        <p:nvPicPr>
          <p:cNvPr id="12" name="Picture 11" descr="Per-class detection accuracy chart">
            <a:extLst>
              <a:ext uri="{FF2B5EF4-FFF2-40B4-BE49-F238E27FC236}">
                <a16:creationId xmlns:a16="http://schemas.microsoft.com/office/drawing/2014/main" id="{A9B97140-07BD-C683-6E43-8AC08D1E32D2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5000" y="1757363"/>
            <a:ext cx="2997200" cy="2809875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A58005FB-56B6-8077-CBE0-92E3D492D15B}"/>
              </a:ext>
            </a:extLst>
          </p:cNvPr>
          <p:cNvSpPr/>
          <p:nvPr/>
        </p:nvSpPr>
        <p:spPr>
          <a:xfrm>
            <a:off x="4724400" y="4318000"/>
            <a:ext cx="1955800" cy="1270000"/>
          </a:xfrm>
          <a:prstGeom prst="rect">
            <a:avLst/>
          </a:prstGeom>
          <a:solidFill>
            <a:srgbClr val="F5FAFA"/>
          </a:solidFill>
          <a:ln w="12700">
            <a:solidFill>
              <a:srgbClr val="D6E5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8A890F2-1197-FF9E-C228-CE5AFDEECF86}"/>
              </a:ext>
            </a:extLst>
          </p:cNvPr>
          <p:cNvSpPr txBox="1"/>
          <p:nvPr/>
        </p:nvSpPr>
        <p:spPr>
          <a:xfrm>
            <a:off x="4927600" y="4495800"/>
            <a:ext cx="1549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3200" b="1">
                <a:solidFill>
                  <a:srgbClr val="008C9E"/>
                </a:solidFill>
                <a:latin typeface="Aptos" panose="020B0004020202020204" pitchFamily="34" charset="0"/>
              </a:rPr>
              <a:t>0.31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1DD0BDD-DE4C-13FD-7EB8-F23305FAF6AE}"/>
              </a:ext>
            </a:extLst>
          </p:cNvPr>
          <p:cNvSpPr txBox="1"/>
          <p:nvPr/>
        </p:nvSpPr>
        <p:spPr>
          <a:xfrm>
            <a:off x="4927600" y="5105400"/>
            <a:ext cx="1549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>
                <a:solidFill>
                  <a:srgbClr val="384848"/>
                </a:solidFill>
                <a:latin typeface="Aptos" panose="020B0004020202020204" pitchFamily="34" charset="0"/>
              </a:rPr>
              <a:t>overall mAP@50 on the public validation split</a:t>
            </a:r>
            <a:endParaRPr lang="en-IN" sz="1300">
              <a:solidFill>
                <a:srgbClr val="384848"/>
              </a:solidFill>
              <a:latin typeface="Aptos" panose="020B00040202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D4700FA-DEBF-BF31-C929-1B5CAD346645}"/>
              </a:ext>
            </a:extLst>
          </p:cNvPr>
          <p:cNvSpPr/>
          <p:nvPr/>
        </p:nvSpPr>
        <p:spPr>
          <a:xfrm>
            <a:off x="6934200" y="4318000"/>
            <a:ext cx="1955800" cy="1270000"/>
          </a:xfrm>
          <a:prstGeom prst="rect">
            <a:avLst/>
          </a:prstGeom>
          <a:solidFill>
            <a:srgbClr val="F5FAFA"/>
          </a:solidFill>
          <a:ln w="12700">
            <a:solidFill>
              <a:srgbClr val="D6E5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363DEE2-7206-73F3-9481-14B65B695DEB}"/>
              </a:ext>
            </a:extLst>
          </p:cNvPr>
          <p:cNvSpPr txBox="1"/>
          <p:nvPr/>
        </p:nvSpPr>
        <p:spPr>
          <a:xfrm>
            <a:off x="7137400" y="4495800"/>
            <a:ext cx="1549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3200" b="1">
                <a:solidFill>
                  <a:srgbClr val="008C9E"/>
                </a:solidFill>
                <a:latin typeface="Aptos" panose="020B0004020202020204" pitchFamily="34" charset="0"/>
              </a:rPr>
              <a:t>25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54C6124-D1B1-B824-5F1F-8490C5C0B9B9}"/>
              </a:ext>
            </a:extLst>
          </p:cNvPr>
          <p:cNvSpPr txBox="1"/>
          <p:nvPr/>
        </p:nvSpPr>
        <p:spPr>
          <a:xfrm>
            <a:off x="7137400" y="5105400"/>
            <a:ext cx="1549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1300">
                <a:solidFill>
                  <a:srgbClr val="384848"/>
                </a:solidFill>
                <a:latin typeface="Aptos" panose="020B0004020202020204" pitchFamily="34" charset="0"/>
              </a:rPr>
              <a:t>training epochs on YOLOv8n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FFB537E-1ABB-FC82-1110-16CA97484733}"/>
              </a:ext>
            </a:extLst>
          </p:cNvPr>
          <p:cNvSpPr/>
          <p:nvPr/>
        </p:nvSpPr>
        <p:spPr>
          <a:xfrm>
            <a:off x="9144000" y="4318000"/>
            <a:ext cx="1955800" cy="1270000"/>
          </a:xfrm>
          <a:prstGeom prst="rect">
            <a:avLst/>
          </a:prstGeom>
          <a:solidFill>
            <a:srgbClr val="F5FAFA"/>
          </a:solidFill>
          <a:ln w="12700">
            <a:solidFill>
              <a:srgbClr val="D6E5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AFE4AFB-4E50-6074-ADFD-9CD8707B1543}"/>
              </a:ext>
            </a:extLst>
          </p:cNvPr>
          <p:cNvSpPr txBox="1"/>
          <p:nvPr/>
        </p:nvSpPr>
        <p:spPr>
          <a:xfrm>
            <a:off x="9347200" y="4495800"/>
            <a:ext cx="1549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3200" b="1">
                <a:solidFill>
                  <a:srgbClr val="FF6B35"/>
                </a:solidFill>
                <a:latin typeface="Aptos" panose="020B0004020202020204" pitchFamily="34" charset="0"/>
              </a:rPr>
              <a:t>19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C7F9457-9986-AE43-56CD-031D2FBA1081}"/>
              </a:ext>
            </a:extLst>
          </p:cNvPr>
          <p:cNvSpPr txBox="1"/>
          <p:nvPr/>
        </p:nvSpPr>
        <p:spPr>
          <a:xfrm>
            <a:off x="9347200" y="5105400"/>
            <a:ext cx="1549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>
                <a:solidFill>
                  <a:srgbClr val="384848"/>
                </a:solidFill>
                <a:latin typeface="Aptos" panose="020B0004020202020204" pitchFamily="34" charset="0"/>
              </a:rPr>
              <a:t>public dataset classes, with severe imbalance</a:t>
            </a:r>
            <a:endParaRPr lang="en-IN" sz="1300">
              <a:solidFill>
                <a:srgbClr val="384848"/>
              </a:solidFill>
              <a:latin typeface="Aptos" panose="020B00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9AE9733-54B3-6ABF-4114-D2376C29A71D}"/>
              </a:ext>
            </a:extLst>
          </p:cNvPr>
          <p:cNvSpPr txBox="1"/>
          <p:nvPr/>
        </p:nvSpPr>
        <p:spPr>
          <a:xfrm>
            <a:off x="635000" y="5334000"/>
            <a:ext cx="3492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600">
                <a:solidFill>
                  <a:srgbClr val="303A3A"/>
                </a:solidFill>
                <a:latin typeface="Aptos" panose="020B0004020202020204" pitchFamily="34" charset="0"/>
              </a:rPr>
              <a:t>Interpretation: the model can detect pellets and visual candidates, but bubbles, glare, and dataset imbalance make temporal and sensor confirmation necessary.</a:t>
            </a:r>
            <a:endParaRPr lang="en-IN" sz="1600">
              <a:solidFill>
                <a:srgbClr val="303A3A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47366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07EC868-3E88-D21F-BA3E-7BC35FCC37A5}"/>
              </a:ext>
            </a:extLst>
          </p:cNvPr>
          <p:cNvSpPr txBox="1"/>
          <p:nvPr/>
        </p:nvSpPr>
        <p:spPr>
          <a:xfrm>
            <a:off x="533400" y="381000"/>
            <a:ext cx="1104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3200" b="1">
                <a:solidFill>
                  <a:srgbClr val="101820"/>
                </a:solidFill>
                <a:latin typeface="Aptos" panose="020B0004020202020204" pitchFamily="34" charset="0"/>
              </a:rPr>
              <a:t>Multi-sensor confirmation suppresses false alarms</a:t>
            </a:r>
            <a:endParaRPr lang="en-IN" sz="3200" b="1">
              <a:solidFill>
                <a:srgbClr val="101820"/>
              </a:solidFill>
              <a:latin typeface="Aptos" panose="020B00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FEB648-E472-CB1C-5C82-64F78C7FD8C3}"/>
              </a:ext>
            </a:extLst>
          </p:cNvPr>
          <p:cNvSpPr txBox="1"/>
          <p:nvPr/>
        </p:nvSpPr>
        <p:spPr>
          <a:xfrm>
            <a:off x="533400" y="1397000"/>
            <a:ext cx="1041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>
                <a:solidFill>
                  <a:srgbClr val="4E5F5F"/>
                </a:solidFill>
                <a:latin typeface="Aptos" panose="020B0004020202020204" pitchFamily="34" charset="0"/>
              </a:rPr>
              <a:t>The alarm decision requires persistence across optical, gas, and AI-derived evidence.</a:t>
            </a:r>
            <a:endParaRPr lang="en-IN" sz="1400">
              <a:solidFill>
                <a:srgbClr val="4E5F5F"/>
              </a:solidFill>
              <a:latin typeface="Aptos" panose="020B0004020202020204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1C43ED2-63DE-E039-D2D3-D1B4A3944421}"/>
              </a:ext>
            </a:extLst>
          </p:cNvPr>
          <p:cNvCxnSpPr/>
          <p:nvPr/>
        </p:nvCxnSpPr>
        <p:spPr>
          <a:xfrm>
            <a:off x="533400" y="6350000"/>
            <a:ext cx="11125200" cy="0"/>
          </a:xfrm>
          <a:prstGeom prst="line">
            <a:avLst/>
          </a:prstGeom>
          <a:ln w="15240">
            <a:solidFill>
              <a:srgbClr val="D2DA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B3D50195-4F69-A580-BAA6-963F2C525AF1}"/>
              </a:ext>
            </a:extLst>
          </p:cNvPr>
          <p:cNvSpPr txBox="1"/>
          <p:nvPr/>
        </p:nvSpPr>
        <p:spPr>
          <a:xfrm>
            <a:off x="533400" y="6502400"/>
            <a:ext cx="457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900">
                <a:solidFill>
                  <a:srgbClr val="647272"/>
                </a:solidFill>
                <a:latin typeface="Aptos" panose="020B0004020202020204" pitchFamily="34" charset="0"/>
              </a:rPr>
              <a:t>ICSIMA2026 backup video | NurdleDNA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CEFCBA-A8D8-DC86-3EFA-EBEA0AFD722A}"/>
              </a:ext>
            </a:extLst>
          </p:cNvPr>
          <p:cNvSpPr txBox="1"/>
          <p:nvPr/>
        </p:nvSpPr>
        <p:spPr>
          <a:xfrm>
            <a:off x="10795000" y="6502400"/>
            <a:ext cx="863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900">
                <a:solidFill>
                  <a:srgbClr val="647272"/>
                </a:solidFill>
                <a:latin typeface="Aptos" panose="020B0004020202020204" pitchFamily="34" charset="0"/>
              </a:rPr>
              <a:t>6 / 12</a:t>
            </a:r>
          </a:p>
        </p:txBody>
      </p:sp>
      <p:pic>
        <p:nvPicPr>
          <p:cNvPr id="8" name="Picture 7" descr="FSM thresholds and confirmation windows table">
            <a:extLst>
              <a:ext uri="{FF2B5EF4-FFF2-40B4-BE49-F238E27FC236}">
                <a16:creationId xmlns:a16="http://schemas.microsoft.com/office/drawing/2014/main" id="{E9FE82C3-89EF-CF2E-EE2C-09DF2379F91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00" y="1807834"/>
            <a:ext cx="4851400" cy="156593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7387AE5-C3AB-7FC2-A30E-5DCDB5067F71}"/>
              </a:ext>
            </a:extLst>
          </p:cNvPr>
          <p:cNvSpPr/>
          <p:nvPr/>
        </p:nvSpPr>
        <p:spPr>
          <a:xfrm>
            <a:off x="635000" y="3835400"/>
            <a:ext cx="4851400" cy="1600200"/>
          </a:xfrm>
          <a:prstGeom prst="rect">
            <a:avLst/>
          </a:prstGeom>
          <a:solidFill>
            <a:srgbClr val="F5FAFA"/>
          </a:solidFill>
          <a:ln w="12700">
            <a:solidFill>
              <a:srgbClr val="D6E5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27101F-02B7-7385-8738-61611AC8A749}"/>
              </a:ext>
            </a:extLst>
          </p:cNvPr>
          <p:cNvSpPr txBox="1"/>
          <p:nvPr/>
        </p:nvSpPr>
        <p:spPr>
          <a:xfrm>
            <a:off x="889000" y="4089400"/>
            <a:ext cx="431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sz="1600">
                <a:solidFill>
                  <a:srgbClr val="222222"/>
                </a:solidFill>
                <a:latin typeface="Aptos" panose="020B0004020202020204" pitchFamily="34" charset="0"/>
              </a:rPr>
              <a:t>- LDR warning threshold: above 600 ADC</a:t>
            </a:r>
          </a:p>
          <a:p>
            <a:pPr>
              <a:spcAft>
                <a:spcPts val="600"/>
              </a:spcAft>
            </a:pPr>
            <a:r>
              <a:rPr lang="en-US" sz="1600">
                <a:solidFill>
                  <a:srgbClr val="222222"/>
                </a:solidFill>
                <a:latin typeface="Aptos" panose="020B0004020202020204" pitchFamily="34" charset="0"/>
              </a:rPr>
              <a:t>- MQ-135 critical threshold: above 200 ADC</a:t>
            </a:r>
          </a:p>
          <a:p>
            <a:pPr>
              <a:spcAft>
                <a:spcPts val="600"/>
              </a:spcAft>
            </a:pPr>
            <a:r>
              <a:rPr lang="en-US" sz="1600">
                <a:solidFill>
                  <a:srgbClr val="222222"/>
                </a:solidFill>
                <a:latin typeface="Aptos" panose="020B0004020202020204" pitchFamily="34" charset="0"/>
              </a:rPr>
              <a:t>- AI warning: count &gt;= 4 for 1.5 s</a:t>
            </a:r>
          </a:p>
          <a:p>
            <a:pPr>
              <a:spcAft>
                <a:spcPts val="600"/>
              </a:spcAft>
            </a:pPr>
            <a:r>
              <a:rPr lang="en-US" sz="1600">
                <a:solidFill>
                  <a:srgbClr val="222222"/>
                </a:solidFill>
                <a:latin typeface="Aptos" panose="020B0004020202020204" pitchFamily="34" charset="0"/>
              </a:rPr>
              <a:t>- AI critical: count &gt;= 12 for 2.5 s</a:t>
            </a:r>
            <a:endParaRPr lang="en-IN" sz="1600">
              <a:solidFill>
                <a:srgbClr val="222222"/>
              </a:solidFill>
              <a:latin typeface="Aptos" panose="020B00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21CCD64-2B1F-CA59-224E-C0B72C5A699B}"/>
              </a:ext>
            </a:extLst>
          </p:cNvPr>
          <p:cNvSpPr/>
          <p:nvPr/>
        </p:nvSpPr>
        <p:spPr>
          <a:xfrm>
            <a:off x="6248400" y="1727200"/>
            <a:ext cx="4470400" cy="3708400"/>
          </a:xfrm>
          <a:prstGeom prst="rect">
            <a:avLst/>
          </a:prstGeom>
          <a:solidFill>
            <a:srgbClr val="FFF7F1"/>
          </a:solidFill>
          <a:ln w="12700">
            <a:solidFill>
              <a:srgbClr val="F2C9A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CBB44F9-4C75-9133-16C2-98840A464BE6}"/>
              </a:ext>
            </a:extLst>
          </p:cNvPr>
          <p:cNvSpPr txBox="1"/>
          <p:nvPr/>
        </p:nvSpPr>
        <p:spPr>
          <a:xfrm>
            <a:off x="6540500" y="2032000"/>
            <a:ext cx="317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2200" b="1">
                <a:solidFill>
                  <a:srgbClr val="C2501B"/>
                </a:solidFill>
                <a:latin typeface="Aptos" panose="020B0004020202020204" pitchFamily="34" charset="0"/>
              </a:rPr>
              <a:t>Filtering strategy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49E504F-CC64-3250-955B-49B0F2393A3A}"/>
              </a:ext>
            </a:extLst>
          </p:cNvPr>
          <p:cNvSpPr txBox="1"/>
          <p:nvPr/>
        </p:nvSpPr>
        <p:spPr>
          <a:xfrm>
            <a:off x="6540500" y="2692400"/>
            <a:ext cx="3708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sz="1700">
                <a:solidFill>
                  <a:srgbClr val="222222"/>
                </a:solidFill>
                <a:latin typeface="Aptos" panose="020B0004020202020204" pitchFamily="34" charset="0"/>
              </a:rPr>
              <a:t>- Region-of-interest masks the active frame</a:t>
            </a:r>
          </a:p>
          <a:p>
            <a:pPr>
              <a:spcAft>
                <a:spcPts val="600"/>
              </a:spcAft>
            </a:pPr>
            <a:r>
              <a:rPr lang="en-US" sz="1700">
                <a:solidFill>
                  <a:srgbClr val="222222"/>
                </a:solidFill>
                <a:latin typeface="Aptos" panose="020B0004020202020204" pitchFamily="34" charset="0"/>
              </a:rPr>
              <a:t>- Circularity filter rejects linear reflections</a:t>
            </a:r>
          </a:p>
          <a:p>
            <a:pPr>
              <a:spcAft>
                <a:spcPts val="600"/>
              </a:spcAft>
            </a:pPr>
            <a:r>
              <a:rPr lang="en-US" sz="1700">
                <a:solidFill>
                  <a:srgbClr val="222222"/>
                </a:solidFill>
                <a:latin typeface="Aptos" panose="020B0004020202020204" pitchFamily="34" charset="0"/>
              </a:rPr>
              <a:t>- EMA smoothing reduces sensor spikes</a:t>
            </a:r>
          </a:p>
          <a:p>
            <a:pPr>
              <a:spcAft>
                <a:spcPts val="600"/>
              </a:spcAft>
            </a:pPr>
            <a:r>
              <a:rPr lang="en-US" sz="1700">
                <a:solidFill>
                  <a:srgbClr val="222222"/>
                </a:solidFill>
                <a:latin typeface="Aptos" panose="020B0004020202020204" pitchFamily="34" charset="0"/>
              </a:rPr>
              <a:t>- Confirmation timers prevent single-frame alarms</a:t>
            </a:r>
            <a:endParaRPr lang="en-IN" sz="1700">
              <a:solidFill>
                <a:srgbClr val="222222"/>
              </a:solidFill>
              <a:latin typeface="Aptos" panose="020B00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8322418-296C-3FA3-8D3C-99324350BFB8}"/>
              </a:ext>
            </a:extLst>
          </p:cNvPr>
          <p:cNvSpPr txBox="1"/>
          <p:nvPr/>
        </p:nvSpPr>
        <p:spPr>
          <a:xfrm>
            <a:off x="6540500" y="4749800"/>
            <a:ext cx="3708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600" b="1">
                <a:solidFill>
                  <a:srgbClr val="3D332E"/>
                </a:solidFill>
                <a:latin typeface="Aptos" panose="020B0004020202020204" pitchFamily="34" charset="0"/>
              </a:rPr>
              <a:t>Bench false-positive tests produced no false S3 alarms before contamination was introduced.</a:t>
            </a:r>
            <a:endParaRPr lang="en-IN" sz="1600" b="1">
              <a:solidFill>
                <a:srgbClr val="3D332E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49205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870A6C1-4409-489C-E143-DFF659D38896}"/>
              </a:ext>
            </a:extLst>
          </p:cNvPr>
          <p:cNvSpPr txBox="1"/>
          <p:nvPr/>
        </p:nvSpPr>
        <p:spPr>
          <a:xfrm>
            <a:off x="533400" y="381000"/>
            <a:ext cx="1104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200" b="1">
                <a:solidFill>
                  <a:srgbClr val="101820"/>
                </a:solidFill>
                <a:latin typeface="Aptos" panose="020B0004020202020204" pitchFamily="34" charset="0"/>
              </a:rPr>
              <a:t>The finite-state machine makes containment deterministic</a:t>
            </a:r>
            <a:endParaRPr lang="en-IN" sz="3200" b="1">
              <a:solidFill>
                <a:srgbClr val="101820"/>
              </a:solidFill>
              <a:latin typeface="Aptos" panose="020B00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808744-277C-E15C-99CE-53B56AC37768}"/>
              </a:ext>
            </a:extLst>
          </p:cNvPr>
          <p:cNvSpPr txBox="1"/>
          <p:nvPr/>
        </p:nvSpPr>
        <p:spPr>
          <a:xfrm>
            <a:off x="533400" y="1397000"/>
            <a:ext cx="1041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>
                <a:solidFill>
                  <a:srgbClr val="4E5F5F"/>
                </a:solidFill>
                <a:latin typeface="Aptos" panose="020B0004020202020204" pitchFamily="34" charset="0"/>
              </a:rPr>
              <a:t>S3 alarm is latched and can only clear through an operator reset.</a:t>
            </a:r>
            <a:endParaRPr lang="en-IN" sz="1400">
              <a:solidFill>
                <a:srgbClr val="4E5F5F"/>
              </a:solidFill>
              <a:latin typeface="Aptos" panose="020B0004020202020204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C8C1BD7-638F-AC00-5C15-D1993D006DF0}"/>
              </a:ext>
            </a:extLst>
          </p:cNvPr>
          <p:cNvCxnSpPr/>
          <p:nvPr/>
        </p:nvCxnSpPr>
        <p:spPr>
          <a:xfrm>
            <a:off x="533400" y="6350000"/>
            <a:ext cx="11125200" cy="0"/>
          </a:xfrm>
          <a:prstGeom prst="line">
            <a:avLst/>
          </a:prstGeom>
          <a:ln w="15240">
            <a:solidFill>
              <a:srgbClr val="D2DA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67B45C89-FF3F-5E3C-7206-72144814918E}"/>
              </a:ext>
            </a:extLst>
          </p:cNvPr>
          <p:cNvSpPr txBox="1"/>
          <p:nvPr/>
        </p:nvSpPr>
        <p:spPr>
          <a:xfrm>
            <a:off x="533400" y="6502400"/>
            <a:ext cx="457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900">
                <a:solidFill>
                  <a:srgbClr val="647272"/>
                </a:solidFill>
                <a:latin typeface="Aptos" panose="020B0004020202020204" pitchFamily="34" charset="0"/>
              </a:rPr>
              <a:t>ICSIMA2026 backup video | NurdleDNA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363A4C-5601-04EE-3B58-C97AF7B6BA67}"/>
              </a:ext>
            </a:extLst>
          </p:cNvPr>
          <p:cNvSpPr txBox="1"/>
          <p:nvPr/>
        </p:nvSpPr>
        <p:spPr>
          <a:xfrm>
            <a:off x="10795000" y="6502400"/>
            <a:ext cx="863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900">
                <a:solidFill>
                  <a:srgbClr val="647272"/>
                </a:solidFill>
                <a:latin typeface="Aptos" panose="020B0004020202020204" pitchFamily="34" charset="0"/>
              </a:rPr>
              <a:t>7 / 12</a:t>
            </a:r>
          </a:p>
        </p:txBody>
      </p:sp>
      <p:pic>
        <p:nvPicPr>
          <p:cNvPr id="8" name="Picture 7" descr="Five-state Moore finite-state machine for NurdleDNA actuation">
            <a:extLst>
              <a:ext uri="{FF2B5EF4-FFF2-40B4-BE49-F238E27FC236}">
                <a16:creationId xmlns:a16="http://schemas.microsoft.com/office/drawing/2014/main" id="{8E54DC22-0AE3-C82A-CAFE-7DA95061B6B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288" y="1676400"/>
            <a:ext cx="4996025" cy="40132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674343B-D0E0-2DEF-9E7A-62E744534030}"/>
              </a:ext>
            </a:extLst>
          </p:cNvPr>
          <p:cNvSpPr/>
          <p:nvPr/>
        </p:nvSpPr>
        <p:spPr>
          <a:xfrm>
            <a:off x="6350000" y="1803400"/>
            <a:ext cx="4368800" cy="914400"/>
          </a:xfrm>
          <a:prstGeom prst="rect">
            <a:avLst/>
          </a:prstGeom>
          <a:solidFill>
            <a:srgbClr val="EAF7F7"/>
          </a:solidFill>
          <a:ln w="12700">
            <a:solidFill>
              <a:srgbClr val="BF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21FF691-3CA7-BEFD-F01A-6174172FF8AA}"/>
              </a:ext>
            </a:extLst>
          </p:cNvPr>
          <p:cNvSpPr txBox="1"/>
          <p:nvPr/>
        </p:nvSpPr>
        <p:spPr>
          <a:xfrm>
            <a:off x="6578600" y="2006600"/>
            <a:ext cx="1397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b="1">
                <a:solidFill>
                  <a:srgbClr val="008C9E"/>
                </a:solidFill>
                <a:latin typeface="Aptos" panose="020B0004020202020204" pitchFamily="34" charset="0"/>
              </a:rPr>
              <a:t>Normal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24BABF9-D833-F417-953E-4E654D21A721}"/>
              </a:ext>
            </a:extLst>
          </p:cNvPr>
          <p:cNvSpPr txBox="1"/>
          <p:nvPr/>
        </p:nvSpPr>
        <p:spPr>
          <a:xfrm>
            <a:off x="6578600" y="2336800"/>
            <a:ext cx="355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>
                <a:solidFill>
                  <a:srgbClr val="334444"/>
                </a:solidFill>
                <a:latin typeface="Aptos" panose="020B0004020202020204" pitchFamily="34" charset="0"/>
              </a:rPr>
              <a:t>S1 opens the valve and reports safe operation.</a:t>
            </a:r>
            <a:endParaRPr lang="en-IN" sz="1500">
              <a:solidFill>
                <a:srgbClr val="334444"/>
              </a:solidFill>
              <a:latin typeface="Aptos" panose="020B00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7FD698A-49E8-D8CD-C8F9-071B928E0CBD}"/>
              </a:ext>
            </a:extLst>
          </p:cNvPr>
          <p:cNvSpPr/>
          <p:nvPr/>
        </p:nvSpPr>
        <p:spPr>
          <a:xfrm>
            <a:off x="6350000" y="2997200"/>
            <a:ext cx="4368800" cy="914400"/>
          </a:xfrm>
          <a:prstGeom prst="rect">
            <a:avLst/>
          </a:prstGeom>
          <a:solidFill>
            <a:srgbClr val="FFF8E8"/>
          </a:solidFill>
          <a:ln w="12700">
            <a:solidFill>
              <a:srgbClr val="F0D89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175CB86-5592-DA25-B7F7-E25FFCB1B321}"/>
              </a:ext>
            </a:extLst>
          </p:cNvPr>
          <p:cNvSpPr txBox="1"/>
          <p:nvPr/>
        </p:nvSpPr>
        <p:spPr>
          <a:xfrm>
            <a:off x="6578600" y="3200400"/>
            <a:ext cx="1397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b="1">
                <a:solidFill>
                  <a:srgbClr val="A66A00"/>
                </a:solidFill>
                <a:latin typeface="Aptos" panose="020B0004020202020204" pitchFamily="34" charset="0"/>
              </a:rPr>
              <a:t>Warning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0112A6C-EAC9-7892-46C8-BFA808564213}"/>
              </a:ext>
            </a:extLst>
          </p:cNvPr>
          <p:cNvSpPr txBox="1"/>
          <p:nvPr/>
        </p:nvSpPr>
        <p:spPr>
          <a:xfrm>
            <a:off x="6578600" y="3530600"/>
            <a:ext cx="355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>
                <a:solidFill>
                  <a:srgbClr val="3A3322"/>
                </a:solidFill>
                <a:latin typeface="Aptos" panose="020B0004020202020204" pitchFamily="34" charset="0"/>
              </a:rPr>
              <a:t>S2 keeps flow open while evidence is confirmed.</a:t>
            </a:r>
            <a:endParaRPr lang="en-IN" sz="1500">
              <a:solidFill>
                <a:srgbClr val="3A3322"/>
              </a:solidFill>
              <a:latin typeface="Aptos" panose="020B0004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CAE34EC-1D55-0177-23CB-2209B7F3031C}"/>
              </a:ext>
            </a:extLst>
          </p:cNvPr>
          <p:cNvSpPr/>
          <p:nvPr/>
        </p:nvSpPr>
        <p:spPr>
          <a:xfrm>
            <a:off x="6350000" y="4191000"/>
            <a:ext cx="4368800" cy="1117600"/>
          </a:xfrm>
          <a:prstGeom prst="rect">
            <a:avLst/>
          </a:prstGeom>
          <a:solidFill>
            <a:srgbClr val="FFF1F1"/>
          </a:solidFill>
          <a:ln w="12700">
            <a:solidFill>
              <a:srgbClr val="EDB5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A89ACCB-5488-6433-A6F8-9B30169867F3}"/>
              </a:ext>
            </a:extLst>
          </p:cNvPr>
          <p:cNvSpPr txBox="1"/>
          <p:nvPr/>
        </p:nvSpPr>
        <p:spPr>
          <a:xfrm>
            <a:off x="6578600" y="4394200"/>
            <a:ext cx="1397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b="1">
                <a:solidFill>
                  <a:srgbClr val="C21F1F"/>
                </a:solidFill>
                <a:latin typeface="Aptos" panose="020B0004020202020204" pitchFamily="34" charset="0"/>
              </a:rPr>
              <a:t>Alarm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1EA9286-FF05-1691-1289-27015D45FCD2}"/>
              </a:ext>
            </a:extLst>
          </p:cNvPr>
          <p:cNvSpPr txBox="1"/>
          <p:nvPr/>
        </p:nvSpPr>
        <p:spPr>
          <a:xfrm>
            <a:off x="6578600" y="4724400"/>
            <a:ext cx="3632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>
                <a:solidFill>
                  <a:srgbClr val="3A2525"/>
                </a:solidFill>
                <a:latin typeface="Aptos" panose="020B0004020202020204" pitchFamily="34" charset="0"/>
              </a:rPr>
              <a:t>S3 closes the valve, turns on the alarm, and remains latched until reset.</a:t>
            </a:r>
            <a:endParaRPr lang="en-IN" sz="1500">
              <a:solidFill>
                <a:srgbClr val="3A2525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73288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E7F2FD3-47E5-8F70-EC8E-E33503AD25D6}"/>
              </a:ext>
            </a:extLst>
          </p:cNvPr>
          <p:cNvSpPr txBox="1"/>
          <p:nvPr/>
        </p:nvSpPr>
        <p:spPr>
          <a:xfrm>
            <a:off x="533400" y="381000"/>
            <a:ext cx="1104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200" b="1">
                <a:solidFill>
                  <a:srgbClr val="101820"/>
                </a:solidFill>
                <a:latin typeface="Aptos" panose="020B0004020202020204" pitchFamily="34" charset="0"/>
              </a:rPr>
              <a:t>The response is dominated by confirmation, not actuation</a:t>
            </a:r>
            <a:endParaRPr lang="en-IN" sz="3200" b="1">
              <a:solidFill>
                <a:srgbClr val="101820"/>
              </a:solidFill>
              <a:latin typeface="Aptos" panose="020B00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BC0ECD-901B-B542-C150-CF834910287C}"/>
              </a:ext>
            </a:extLst>
          </p:cNvPr>
          <p:cNvSpPr txBox="1"/>
          <p:nvPr/>
        </p:nvSpPr>
        <p:spPr>
          <a:xfrm>
            <a:off x="533400" y="1397000"/>
            <a:ext cx="1041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>
                <a:solidFill>
                  <a:srgbClr val="4E5F5F"/>
                </a:solidFill>
                <a:latin typeface="Aptos" panose="020B0004020202020204" pitchFamily="34" charset="0"/>
              </a:rPr>
              <a:t>The system waits long enough to avoid false alarms, then closes the valve quickly.</a:t>
            </a:r>
            <a:endParaRPr lang="en-IN" sz="1400">
              <a:solidFill>
                <a:srgbClr val="4E5F5F"/>
              </a:solidFill>
              <a:latin typeface="Aptos" panose="020B0004020202020204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85F1380-DFDE-5B59-AEC8-F87DB11FD19F}"/>
              </a:ext>
            </a:extLst>
          </p:cNvPr>
          <p:cNvCxnSpPr/>
          <p:nvPr/>
        </p:nvCxnSpPr>
        <p:spPr>
          <a:xfrm>
            <a:off x="533400" y="6350000"/>
            <a:ext cx="11125200" cy="0"/>
          </a:xfrm>
          <a:prstGeom prst="line">
            <a:avLst/>
          </a:prstGeom>
          <a:ln w="15240">
            <a:solidFill>
              <a:srgbClr val="D2DA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24C9594B-D7E0-C190-7DD9-E9E1D4C9F607}"/>
              </a:ext>
            </a:extLst>
          </p:cNvPr>
          <p:cNvSpPr txBox="1"/>
          <p:nvPr/>
        </p:nvSpPr>
        <p:spPr>
          <a:xfrm>
            <a:off x="533400" y="6502400"/>
            <a:ext cx="457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900">
                <a:solidFill>
                  <a:srgbClr val="647272"/>
                </a:solidFill>
                <a:latin typeface="Aptos" panose="020B0004020202020204" pitchFamily="34" charset="0"/>
              </a:rPr>
              <a:t>ICSIMA2026 backup video | NurdleDNA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709FBE-6D36-7357-C21E-8BEF2324E38C}"/>
              </a:ext>
            </a:extLst>
          </p:cNvPr>
          <p:cNvSpPr txBox="1"/>
          <p:nvPr/>
        </p:nvSpPr>
        <p:spPr>
          <a:xfrm>
            <a:off x="10795000" y="6502400"/>
            <a:ext cx="863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900">
                <a:solidFill>
                  <a:srgbClr val="647272"/>
                </a:solidFill>
                <a:latin typeface="Aptos" panose="020B0004020202020204" pitchFamily="34" charset="0"/>
              </a:rPr>
              <a:t>8 / 12</a:t>
            </a:r>
          </a:p>
        </p:txBody>
      </p:sp>
      <p:pic>
        <p:nvPicPr>
          <p:cNvPr id="8" name="Picture 7" descr="End-to-end latency breakdown">
            <a:extLst>
              <a:ext uri="{FF2B5EF4-FFF2-40B4-BE49-F238E27FC236}">
                <a16:creationId xmlns:a16="http://schemas.microsoft.com/office/drawing/2014/main" id="{C143DAD0-20DE-D489-9118-A07B08C196A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324" y="1651000"/>
            <a:ext cx="4811351" cy="3251200"/>
          </a:xfrm>
          <a:prstGeom prst="rect">
            <a:avLst/>
          </a:prstGeom>
        </p:spPr>
      </p:pic>
      <p:pic>
        <p:nvPicPr>
          <p:cNvPr id="10" name="Picture 9" descr="Time-aligned event trace showing sensor, FSM, and actuator behavior">
            <a:extLst>
              <a:ext uri="{FF2B5EF4-FFF2-40B4-BE49-F238E27FC236}">
                <a16:creationId xmlns:a16="http://schemas.microsoft.com/office/drawing/2014/main" id="{A32FAF4A-CBFB-6230-E01A-8342EB433210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7705" y="1651000"/>
            <a:ext cx="4356190" cy="33274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A50910F-F89D-F111-E78C-EC032BF795FD}"/>
              </a:ext>
            </a:extLst>
          </p:cNvPr>
          <p:cNvSpPr/>
          <p:nvPr/>
        </p:nvSpPr>
        <p:spPr>
          <a:xfrm>
            <a:off x="635000" y="5334000"/>
            <a:ext cx="1981200" cy="1041400"/>
          </a:xfrm>
          <a:prstGeom prst="rect">
            <a:avLst/>
          </a:prstGeom>
          <a:solidFill>
            <a:srgbClr val="F5FAFA"/>
          </a:solidFill>
          <a:ln w="12700">
            <a:solidFill>
              <a:srgbClr val="D6E5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66D0183-17E2-BC80-E603-D8EC4098D112}"/>
              </a:ext>
            </a:extLst>
          </p:cNvPr>
          <p:cNvSpPr txBox="1"/>
          <p:nvPr/>
        </p:nvSpPr>
        <p:spPr>
          <a:xfrm>
            <a:off x="838200" y="5511800"/>
            <a:ext cx="1574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3200" b="1">
                <a:solidFill>
                  <a:srgbClr val="008C9E"/>
                </a:solidFill>
                <a:latin typeface="Aptos" panose="020B0004020202020204" pitchFamily="34" charset="0"/>
              </a:rPr>
              <a:t>3.0 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9EA2573-0540-9B77-DC3A-949346E2720A}"/>
              </a:ext>
            </a:extLst>
          </p:cNvPr>
          <p:cNvSpPr txBox="1"/>
          <p:nvPr/>
        </p:nvSpPr>
        <p:spPr>
          <a:xfrm>
            <a:off x="838200" y="6121400"/>
            <a:ext cx="1574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1300">
                <a:solidFill>
                  <a:srgbClr val="384848"/>
                </a:solidFill>
                <a:latin typeface="Aptos" panose="020B0004020202020204" pitchFamily="34" charset="0"/>
              </a:rPr>
              <a:t>average end-to-end alarm response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926A344-A2C0-BAFC-EA07-09AA03753331}"/>
              </a:ext>
            </a:extLst>
          </p:cNvPr>
          <p:cNvSpPr/>
          <p:nvPr/>
        </p:nvSpPr>
        <p:spPr>
          <a:xfrm>
            <a:off x="2870200" y="5334000"/>
            <a:ext cx="1981200" cy="1041400"/>
          </a:xfrm>
          <a:prstGeom prst="rect">
            <a:avLst/>
          </a:prstGeom>
          <a:solidFill>
            <a:srgbClr val="F5FAFA"/>
          </a:solidFill>
          <a:ln w="12700">
            <a:solidFill>
              <a:srgbClr val="D6E5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768574B-B038-DD36-8F89-F048E9EB1633}"/>
              </a:ext>
            </a:extLst>
          </p:cNvPr>
          <p:cNvSpPr txBox="1"/>
          <p:nvPr/>
        </p:nvSpPr>
        <p:spPr>
          <a:xfrm>
            <a:off x="3073400" y="5511800"/>
            <a:ext cx="1574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3200" b="1">
                <a:solidFill>
                  <a:srgbClr val="FF6B35"/>
                </a:solidFill>
                <a:latin typeface="Aptos" panose="020B0004020202020204" pitchFamily="34" charset="0"/>
              </a:rPr>
              <a:t>2.5 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F0FC1A1-35F2-D0A3-C6B6-14C7B9F967E6}"/>
              </a:ext>
            </a:extLst>
          </p:cNvPr>
          <p:cNvSpPr txBox="1"/>
          <p:nvPr/>
        </p:nvSpPr>
        <p:spPr>
          <a:xfrm>
            <a:off x="3073400" y="6121400"/>
            <a:ext cx="1574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1300">
                <a:solidFill>
                  <a:srgbClr val="384848"/>
                </a:solidFill>
                <a:latin typeface="Aptos" panose="020B0004020202020204" pitchFamily="34" charset="0"/>
              </a:rPr>
              <a:t>temporal confirmation window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B09D260-0C40-5211-44AE-50A5697DD363}"/>
              </a:ext>
            </a:extLst>
          </p:cNvPr>
          <p:cNvSpPr/>
          <p:nvPr/>
        </p:nvSpPr>
        <p:spPr>
          <a:xfrm>
            <a:off x="5105400" y="5334000"/>
            <a:ext cx="1981200" cy="1041400"/>
          </a:xfrm>
          <a:prstGeom prst="rect">
            <a:avLst/>
          </a:prstGeom>
          <a:solidFill>
            <a:srgbClr val="F5FAFA"/>
          </a:solidFill>
          <a:ln w="12700">
            <a:solidFill>
              <a:srgbClr val="D6E5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B8D2DBF-6E35-BFFF-9712-27F5FB9E0F53}"/>
              </a:ext>
            </a:extLst>
          </p:cNvPr>
          <p:cNvSpPr txBox="1"/>
          <p:nvPr/>
        </p:nvSpPr>
        <p:spPr>
          <a:xfrm>
            <a:off x="5308600" y="5511800"/>
            <a:ext cx="1574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3200" b="1">
                <a:solidFill>
                  <a:srgbClr val="008C9E"/>
                </a:solidFill>
                <a:latin typeface="Aptos" panose="020B0004020202020204" pitchFamily="34" charset="0"/>
              </a:rPr>
              <a:t>300 ms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4AE90A4-8893-6AA9-403D-45D3B72D6054}"/>
              </a:ext>
            </a:extLst>
          </p:cNvPr>
          <p:cNvSpPr txBox="1"/>
          <p:nvPr/>
        </p:nvSpPr>
        <p:spPr>
          <a:xfrm>
            <a:off x="5308600" y="6121400"/>
            <a:ext cx="1574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>
                <a:solidFill>
                  <a:srgbClr val="384848"/>
                </a:solidFill>
                <a:latin typeface="Aptos" panose="020B0004020202020204" pitchFamily="34" charset="0"/>
              </a:rPr>
              <a:t>valve seated after S3 activation</a:t>
            </a:r>
            <a:endParaRPr lang="en-IN" sz="1300">
              <a:solidFill>
                <a:srgbClr val="384848"/>
              </a:solidFill>
              <a:latin typeface="Aptos" panose="020B00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BF64615-F4D6-507F-155A-FD70A0B71AD9}"/>
              </a:ext>
            </a:extLst>
          </p:cNvPr>
          <p:cNvSpPr txBox="1"/>
          <p:nvPr/>
        </p:nvSpPr>
        <p:spPr>
          <a:xfrm>
            <a:off x="7493000" y="5359400"/>
            <a:ext cx="342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>
                <a:solidFill>
                  <a:srgbClr val="303A3A"/>
                </a:solidFill>
                <a:latin typeface="Aptos" panose="020B0004020202020204" pitchFamily="34" charset="0"/>
              </a:rPr>
              <a:t>The latency trade-off is intentional: a shorter window would respond faster, but would increase false alarms in bubbles, glare, and turbulent flow.</a:t>
            </a:r>
            <a:endParaRPr lang="en-IN" sz="1500">
              <a:solidFill>
                <a:srgbClr val="303A3A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43365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D39DED4-DDD9-4A4C-826E-BA0C9AE7DAF3}"/>
              </a:ext>
            </a:extLst>
          </p:cNvPr>
          <p:cNvSpPr txBox="1"/>
          <p:nvPr/>
        </p:nvSpPr>
        <p:spPr>
          <a:xfrm>
            <a:off x="533400" y="381000"/>
            <a:ext cx="1104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200" b="1">
                <a:solidFill>
                  <a:srgbClr val="101820"/>
                </a:solidFill>
                <a:latin typeface="Aptos" panose="020B0004020202020204" pitchFamily="34" charset="0"/>
              </a:rPr>
              <a:t>Each alarm creates physical and digital evidence</a:t>
            </a:r>
            <a:endParaRPr lang="en-IN" sz="3200" b="1">
              <a:solidFill>
                <a:srgbClr val="101820"/>
              </a:solidFill>
              <a:latin typeface="Aptos" panose="020B00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A66F3F-A2D0-EDA9-CEAE-F0DE33FF3A15}"/>
              </a:ext>
            </a:extLst>
          </p:cNvPr>
          <p:cNvSpPr txBox="1"/>
          <p:nvPr/>
        </p:nvSpPr>
        <p:spPr>
          <a:xfrm>
            <a:off x="533400" y="1397000"/>
            <a:ext cx="1041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>
                <a:solidFill>
                  <a:srgbClr val="4E5F5F"/>
                </a:solidFill>
                <a:latin typeface="Aptos" panose="020B0004020202020204" pitchFamily="34" charset="0"/>
              </a:rPr>
              <a:t>The system does not just signal a hazard; it preserves data that can support source-level accountability.</a:t>
            </a:r>
            <a:endParaRPr lang="en-IN" sz="1400">
              <a:solidFill>
                <a:srgbClr val="4E5F5F"/>
              </a:solidFill>
              <a:latin typeface="Aptos" panose="020B0004020202020204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65E2D59-CD95-16F5-46D9-D183353DC919}"/>
              </a:ext>
            </a:extLst>
          </p:cNvPr>
          <p:cNvCxnSpPr/>
          <p:nvPr/>
        </p:nvCxnSpPr>
        <p:spPr>
          <a:xfrm>
            <a:off x="533400" y="6350000"/>
            <a:ext cx="11125200" cy="0"/>
          </a:xfrm>
          <a:prstGeom prst="line">
            <a:avLst/>
          </a:prstGeom>
          <a:ln w="15240">
            <a:solidFill>
              <a:srgbClr val="D2DA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F0C2BE6D-C963-8679-7401-4EE31B168806}"/>
              </a:ext>
            </a:extLst>
          </p:cNvPr>
          <p:cNvSpPr txBox="1"/>
          <p:nvPr/>
        </p:nvSpPr>
        <p:spPr>
          <a:xfrm>
            <a:off x="533400" y="6502400"/>
            <a:ext cx="457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900">
                <a:solidFill>
                  <a:srgbClr val="647272"/>
                </a:solidFill>
                <a:latin typeface="Aptos" panose="020B0004020202020204" pitchFamily="34" charset="0"/>
              </a:rPr>
              <a:t>ICSIMA2026 backup video | NurdleDNA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8F14FC-0F40-CB61-F6D8-0EC2BB35159F}"/>
              </a:ext>
            </a:extLst>
          </p:cNvPr>
          <p:cNvSpPr txBox="1"/>
          <p:nvPr/>
        </p:nvSpPr>
        <p:spPr>
          <a:xfrm>
            <a:off x="10795000" y="6502400"/>
            <a:ext cx="863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900">
                <a:solidFill>
                  <a:srgbClr val="647272"/>
                </a:solidFill>
                <a:latin typeface="Aptos" panose="020B0004020202020204" pitchFamily="34" charset="0"/>
              </a:rPr>
              <a:t>9 / 12</a:t>
            </a:r>
          </a:p>
        </p:txBody>
      </p:sp>
      <p:pic>
        <p:nvPicPr>
          <p:cNvPr id="8" name="Picture 7" descr="Load-cell calibration plot">
            <a:extLst>
              <a:ext uri="{FF2B5EF4-FFF2-40B4-BE49-F238E27FC236}">
                <a16:creationId xmlns:a16="http://schemas.microsoft.com/office/drawing/2014/main" id="{CE01DB7C-95B5-D1B0-C4AA-E1D3ED8928D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1718867"/>
            <a:ext cx="3810000" cy="2531265"/>
          </a:xfrm>
          <a:prstGeom prst="rect">
            <a:avLst/>
          </a:prstGeom>
        </p:spPr>
      </p:pic>
      <p:pic>
        <p:nvPicPr>
          <p:cNvPr id="10" name="Picture 9" descr="Firebase-backed dashboard during an active alarm event">
            <a:extLst>
              <a:ext uri="{FF2B5EF4-FFF2-40B4-BE49-F238E27FC236}">
                <a16:creationId xmlns:a16="http://schemas.microsoft.com/office/drawing/2014/main" id="{E6C1E8CB-72B5-0509-345C-F6D50F0FE740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3200" y="1643638"/>
            <a:ext cx="5105400" cy="2376923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F486CBE-A5D6-2522-37A0-2FFE1437D9CD}"/>
              </a:ext>
            </a:extLst>
          </p:cNvPr>
          <p:cNvSpPr/>
          <p:nvPr/>
        </p:nvSpPr>
        <p:spPr>
          <a:xfrm>
            <a:off x="685800" y="4648200"/>
            <a:ext cx="2032000" cy="1092200"/>
          </a:xfrm>
          <a:prstGeom prst="rect">
            <a:avLst/>
          </a:prstGeom>
          <a:solidFill>
            <a:srgbClr val="F5FAFA"/>
          </a:solidFill>
          <a:ln w="12700">
            <a:solidFill>
              <a:srgbClr val="D6E5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B4AEA5A-8A6F-805D-62EA-295A05AA2ECD}"/>
              </a:ext>
            </a:extLst>
          </p:cNvPr>
          <p:cNvSpPr txBox="1"/>
          <p:nvPr/>
        </p:nvSpPr>
        <p:spPr>
          <a:xfrm>
            <a:off x="889000" y="4826000"/>
            <a:ext cx="162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3200" b="1">
                <a:solidFill>
                  <a:srgbClr val="008C9E"/>
                </a:solidFill>
                <a:latin typeface="Aptos" panose="020B0004020202020204" pitchFamily="34" charset="0"/>
              </a:rPr>
              <a:t>R2=1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512709C-5B3B-B871-316B-937E322B3ED3}"/>
              </a:ext>
            </a:extLst>
          </p:cNvPr>
          <p:cNvSpPr txBox="1"/>
          <p:nvPr/>
        </p:nvSpPr>
        <p:spPr>
          <a:xfrm>
            <a:off x="889000" y="5435600"/>
            <a:ext cx="162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1300">
                <a:solidFill>
                  <a:srgbClr val="384848"/>
                </a:solidFill>
                <a:latin typeface="Aptos" panose="020B0004020202020204" pitchFamily="34" charset="0"/>
              </a:rPr>
              <a:t>load-cell calibration linearity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420BB1D-CA39-F012-8748-2AFEC7813809}"/>
              </a:ext>
            </a:extLst>
          </p:cNvPr>
          <p:cNvSpPr/>
          <p:nvPr/>
        </p:nvSpPr>
        <p:spPr>
          <a:xfrm>
            <a:off x="2971800" y="4648200"/>
            <a:ext cx="2032000" cy="1092200"/>
          </a:xfrm>
          <a:prstGeom prst="rect">
            <a:avLst/>
          </a:prstGeom>
          <a:solidFill>
            <a:srgbClr val="F5FAFA"/>
          </a:solidFill>
          <a:ln w="12700">
            <a:solidFill>
              <a:srgbClr val="D6E5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C64EFE0-E4BC-34D4-DDFF-C604ABC1F060}"/>
              </a:ext>
            </a:extLst>
          </p:cNvPr>
          <p:cNvSpPr txBox="1"/>
          <p:nvPr/>
        </p:nvSpPr>
        <p:spPr>
          <a:xfrm>
            <a:off x="3175000" y="4826000"/>
            <a:ext cx="162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3200" b="1">
                <a:solidFill>
                  <a:srgbClr val="008C9E"/>
                </a:solidFill>
                <a:latin typeface="Aptos" panose="020B0004020202020204" pitchFamily="34" charset="0"/>
              </a:rPr>
              <a:t>5 Hz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81CCB9E-4D61-31B7-7B07-9CB144931AE3}"/>
              </a:ext>
            </a:extLst>
          </p:cNvPr>
          <p:cNvSpPr txBox="1"/>
          <p:nvPr/>
        </p:nvSpPr>
        <p:spPr>
          <a:xfrm>
            <a:off x="3175000" y="5435600"/>
            <a:ext cx="162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>
                <a:solidFill>
                  <a:srgbClr val="384848"/>
                </a:solidFill>
                <a:latin typeface="Aptos" panose="020B0004020202020204" pitchFamily="34" charset="0"/>
              </a:rPr>
              <a:t>sensor recording and telemetry cadence</a:t>
            </a:r>
            <a:endParaRPr lang="en-IN" sz="1300">
              <a:solidFill>
                <a:srgbClr val="384848"/>
              </a:solidFill>
              <a:latin typeface="Aptos" panose="020B000402020202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5772FED-859D-CD09-4C71-F737368C3C65}"/>
              </a:ext>
            </a:extLst>
          </p:cNvPr>
          <p:cNvSpPr/>
          <p:nvPr/>
        </p:nvSpPr>
        <p:spPr>
          <a:xfrm>
            <a:off x="5257800" y="4648200"/>
            <a:ext cx="2032000" cy="1092200"/>
          </a:xfrm>
          <a:prstGeom prst="rect">
            <a:avLst/>
          </a:prstGeom>
          <a:solidFill>
            <a:srgbClr val="F5FAFA"/>
          </a:solidFill>
          <a:ln w="12700">
            <a:solidFill>
              <a:srgbClr val="D6E5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6D93B05-77F0-5248-35F4-48C688C7F320}"/>
              </a:ext>
            </a:extLst>
          </p:cNvPr>
          <p:cNvSpPr txBox="1"/>
          <p:nvPr/>
        </p:nvSpPr>
        <p:spPr>
          <a:xfrm>
            <a:off x="5461000" y="4826000"/>
            <a:ext cx="162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3200" b="1">
                <a:solidFill>
                  <a:srgbClr val="FF6B35"/>
                </a:solidFill>
                <a:latin typeface="Aptos" panose="020B0004020202020204" pitchFamily="34" charset="0"/>
              </a:rPr>
              <a:t>3 data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689D84A-5BEE-DF1D-C4CF-78FEDC900111}"/>
              </a:ext>
            </a:extLst>
          </p:cNvPr>
          <p:cNvSpPr txBox="1"/>
          <p:nvPr/>
        </p:nvSpPr>
        <p:spPr>
          <a:xfrm>
            <a:off x="5461000" y="5435600"/>
            <a:ext cx="162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>
                <a:solidFill>
                  <a:srgbClr val="384848"/>
                </a:solidFill>
                <a:latin typeface="Aptos" panose="020B0004020202020204" pitchFamily="34" charset="0"/>
              </a:rPr>
              <a:t>frame, captured mass, and VOC log</a:t>
            </a:r>
            <a:endParaRPr lang="en-IN" sz="1300">
              <a:solidFill>
                <a:srgbClr val="384848"/>
              </a:solidFill>
              <a:latin typeface="Aptos" panose="020B00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C6F6068-56C4-4A7E-8C39-C0B99EEE2783}"/>
              </a:ext>
            </a:extLst>
          </p:cNvPr>
          <p:cNvSpPr txBox="1"/>
          <p:nvPr/>
        </p:nvSpPr>
        <p:spPr>
          <a:xfrm>
            <a:off x="7874000" y="4368800"/>
            <a:ext cx="317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sz="1500">
                <a:solidFill>
                  <a:srgbClr val="222222"/>
                </a:solidFill>
                <a:latin typeface="Aptos" panose="020B0004020202020204" pitchFamily="34" charset="0"/>
              </a:rPr>
              <a:t>- Evidence cartridge mass is recorded through HX711 calibration</a:t>
            </a:r>
          </a:p>
          <a:p>
            <a:pPr>
              <a:spcAft>
                <a:spcPts val="600"/>
              </a:spcAft>
            </a:pPr>
            <a:r>
              <a:rPr lang="en-US" sz="1500">
                <a:solidFill>
                  <a:srgbClr val="222222"/>
                </a:solidFill>
                <a:latin typeface="Aptos" panose="020B0004020202020204" pitchFamily="34" charset="0"/>
              </a:rPr>
              <a:t>- Cloud packets include state, sensor values, classified source, and valve state</a:t>
            </a:r>
          </a:p>
          <a:p>
            <a:pPr>
              <a:spcAft>
                <a:spcPts val="600"/>
              </a:spcAft>
            </a:pPr>
            <a:r>
              <a:rPr lang="en-US" sz="1500">
                <a:solidFill>
                  <a:srgbClr val="222222"/>
                </a:solidFill>
                <a:latin typeface="Aptos" panose="020B0004020202020204" pitchFamily="34" charset="0"/>
              </a:rPr>
              <a:t>- Dashboard provides a remote audit view during S3 alarm events</a:t>
            </a:r>
            <a:endParaRPr lang="en-IN" sz="1500">
              <a:solidFill>
                <a:srgbClr val="222222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72461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9B9C6B9-9330-54C0-683E-BAB596EA9786}"/>
              </a:ext>
            </a:extLst>
          </p:cNvPr>
          <p:cNvSpPr txBox="1"/>
          <p:nvPr/>
        </p:nvSpPr>
        <p:spPr>
          <a:xfrm>
            <a:off x="533400" y="381000"/>
            <a:ext cx="1104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3200" b="1">
                <a:solidFill>
                  <a:srgbClr val="101820"/>
                </a:solidFill>
                <a:latin typeface="Aptos" panose="020B0004020202020204" pitchFamily="34" charset="0"/>
              </a:rPr>
              <a:t>The contribution is containment plus auditability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495F1E-A2CB-5494-C338-886072494C9F}"/>
              </a:ext>
            </a:extLst>
          </p:cNvPr>
          <p:cNvSpPr txBox="1"/>
          <p:nvPr/>
        </p:nvSpPr>
        <p:spPr>
          <a:xfrm>
            <a:off x="533400" y="1397000"/>
            <a:ext cx="1041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>
                <a:solidFill>
                  <a:srgbClr val="4E5F5F"/>
                </a:solidFill>
                <a:latin typeface="Aptos" panose="020B0004020202020204" pitchFamily="34" charset="0"/>
              </a:rPr>
              <a:t>Compared with conventional methods, NurdleDNA combines field response with traceable evidence.</a:t>
            </a:r>
            <a:endParaRPr lang="en-IN" sz="1400">
              <a:solidFill>
                <a:srgbClr val="4E5F5F"/>
              </a:solidFill>
              <a:latin typeface="Aptos" panose="020B0004020202020204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9E77326-904A-86FB-1FA5-BAF82A8D6C24}"/>
              </a:ext>
            </a:extLst>
          </p:cNvPr>
          <p:cNvCxnSpPr/>
          <p:nvPr/>
        </p:nvCxnSpPr>
        <p:spPr>
          <a:xfrm>
            <a:off x="533400" y="6350000"/>
            <a:ext cx="11125200" cy="0"/>
          </a:xfrm>
          <a:prstGeom prst="line">
            <a:avLst/>
          </a:prstGeom>
          <a:ln w="15240">
            <a:solidFill>
              <a:srgbClr val="D2DA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C1808A8B-6B8B-162E-5CC7-147F45A33457}"/>
              </a:ext>
            </a:extLst>
          </p:cNvPr>
          <p:cNvSpPr txBox="1"/>
          <p:nvPr/>
        </p:nvSpPr>
        <p:spPr>
          <a:xfrm>
            <a:off x="533400" y="6502400"/>
            <a:ext cx="457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900">
                <a:solidFill>
                  <a:srgbClr val="647272"/>
                </a:solidFill>
                <a:latin typeface="Aptos" panose="020B0004020202020204" pitchFamily="34" charset="0"/>
              </a:rPr>
              <a:t>ICSIMA2026 backup video | NurdleDNA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4D1510-29FF-C328-0AE1-8F40E84803DD}"/>
              </a:ext>
            </a:extLst>
          </p:cNvPr>
          <p:cNvSpPr txBox="1"/>
          <p:nvPr/>
        </p:nvSpPr>
        <p:spPr>
          <a:xfrm>
            <a:off x="10795000" y="6502400"/>
            <a:ext cx="863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900">
                <a:solidFill>
                  <a:srgbClr val="647272"/>
                </a:solidFill>
                <a:latin typeface="Aptos" panose="020B0004020202020204" pitchFamily="34" charset="0"/>
              </a:rPr>
              <a:t>10 / 12</a:t>
            </a:r>
          </a:p>
        </p:txBody>
      </p:sp>
      <p:pic>
        <p:nvPicPr>
          <p:cNvPr id="8" name="Picture 7" descr="Comparison table of NurdleDNA with conventional microplastic-monitoring approaches">
            <a:extLst>
              <a:ext uri="{FF2B5EF4-FFF2-40B4-BE49-F238E27FC236}">
                <a16:creationId xmlns:a16="http://schemas.microsoft.com/office/drawing/2014/main" id="{57DDB983-9539-9399-16AD-346C89F2BD3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00" y="1601986"/>
            <a:ext cx="7569200" cy="2587229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91B37DA-1076-AF00-6CCE-674347D1E556}"/>
              </a:ext>
            </a:extLst>
          </p:cNvPr>
          <p:cNvSpPr/>
          <p:nvPr/>
        </p:nvSpPr>
        <p:spPr>
          <a:xfrm>
            <a:off x="8661400" y="1600200"/>
            <a:ext cx="2336800" cy="2590800"/>
          </a:xfrm>
          <a:prstGeom prst="rect">
            <a:avLst/>
          </a:prstGeom>
          <a:solidFill>
            <a:srgbClr val="F5FAFA"/>
          </a:solidFill>
          <a:ln w="12700">
            <a:solidFill>
              <a:srgbClr val="D6E5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372610C-0B5C-DBFC-7FE8-4DE742DE3798}"/>
              </a:ext>
            </a:extLst>
          </p:cNvPr>
          <p:cNvSpPr txBox="1"/>
          <p:nvPr/>
        </p:nvSpPr>
        <p:spPr>
          <a:xfrm>
            <a:off x="8940800" y="1879600"/>
            <a:ext cx="177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2000" b="1">
                <a:solidFill>
                  <a:srgbClr val="008C9E"/>
                </a:solidFill>
                <a:latin typeface="Aptos" panose="020B0004020202020204" pitchFamily="34" charset="0"/>
              </a:rPr>
              <a:t>What changes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D9053D-E378-B86F-03C6-6B936B3DBB3F}"/>
              </a:ext>
            </a:extLst>
          </p:cNvPr>
          <p:cNvSpPr txBox="1"/>
          <p:nvPr/>
        </p:nvSpPr>
        <p:spPr>
          <a:xfrm>
            <a:off x="8940800" y="2489200"/>
            <a:ext cx="1676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sz="1500">
                <a:solidFill>
                  <a:srgbClr val="222222"/>
                </a:solidFill>
                <a:latin typeface="Aptos" panose="020B0004020202020204" pitchFamily="34" charset="0"/>
              </a:rPr>
              <a:t>- Real-time source-level containment</a:t>
            </a:r>
          </a:p>
          <a:p>
            <a:pPr>
              <a:spcAft>
                <a:spcPts val="600"/>
              </a:spcAft>
            </a:pPr>
            <a:r>
              <a:rPr lang="en-US" sz="1500">
                <a:solidFill>
                  <a:srgbClr val="222222"/>
                </a:solidFill>
                <a:latin typeface="Aptos" panose="020B0004020202020204" pitchFamily="34" charset="0"/>
              </a:rPr>
              <a:t>- Physical capture, not only detection</a:t>
            </a:r>
          </a:p>
          <a:p>
            <a:pPr>
              <a:spcAft>
                <a:spcPts val="600"/>
              </a:spcAft>
            </a:pPr>
            <a:r>
              <a:rPr lang="en-US" sz="1500">
                <a:solidFill>
                  <a:srgbClr val="222222"/>
                </a:solidFill>
                <a:latin typeface="Aptos" panose="020B0004020202020204" pitchFamily="34" charset="0"/>
              </a:rPr>
              <a:t>- Cloud audit trail tied to each alarm</a:t>
            </a:r>
            <a:endParaRPr lang="en-IN" sz="1500">
              <a:solidFill>
                <a:srgbClr val="222222"/>
              </a:solidFill>
              <a:latin typeface="Aptos" panose="020B00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5B28D15-9E3E-5540-62AA-53E090C51053}"/>
              </a:ext>
            </a:extLst>
          </p:cNvPr>
          <p:cNvSpPr/>
          <p:nvPr/>
        </p:nvSpPr>
        <p:spPr>
          <a:xfrm>
            <a:off x="990600" y="4749800"/>
            <a:ext cx="1905000" cy="1041400"/>
          </a:xfrm>
          <a:prstGeom prst="rect">
            <a:avLst/>
          </a:prstGeom>
          <a:solidFill>
            <a:srgbClr val="F5FAFA"/>
          </a:solidFill>
          <a:ln w="12700">
            <a:solidFill>
              <a:srgbClr val="D6E5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D919F63-D6F0-91BC-3C5A-CBF683870FE9}"/>
              </a:ext>
            </a:extLst>
          </p:cNvPr>
          <p:cNvSpPr txBox="1"/>
          <p:nvPr/>
        </p:nvSpPr>
        <p:spPr>
          <a:xfrm>
            <a:off x="1193800" y="4927600"/>
            <a:ext cx="1498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3200" b="1">
                <a:solidFill>
                  <a:srgbClr val="008C9E"/>
                </a:solidFill>
                <a:latin typeface="Aptos" panose="020B0004020202020204" pitchFamily="34" charset="0"/>
              </a:rPr>
              <a:t>Yes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ED481A5-181F-6862-31EB-D2347183FB52}"/>
              </a:ext>
            </a:extLst>
          </p:cNvPr>
          <p:cNvSpPr txBox="1"/>
          <p:nvPr/>
        </p:nvSpPr>
        <p:spPr>
          <a:xfrm>
            <a:off x="1193800" y="5537200"/>
            <a:ext cx="1498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1300">
                <a:solidFill>
                  <a:srgbClr val="384848"/>
                </a:solidFill>
                <a:latin typeface="Aptos" panose="020B0004020202020204" pitchFamily="34" charset="0"/>
              </a:rPr>
              <a:t>real-time response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C180024-0EBB-7392-2C0E-6FABCA939867}"/>
              </a:ext>
            </a:extLst>
          </p:cNvPr>
          <p:cNvSpPr/>
          <p:nvPr/>
        </p:nvSpPr>
        <p:spPr>
          <a:xfrm>
            <a:off x="3276600" y="4749800"/>
            <a:ext cx="1905000" cy="1041400"/>
          </a:xfrm>
          <a:prstGeom prst="rect">
            <a:avLst/>
          </a:prstGeom>
          <a:solidFill>
            <a:srgbClr val="F5FAFA"/>
          </a:solidFill>
          <a:ln w="12700">
            <a:solidFill>
              <a:srgbClr val="D6E5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A85FC07-F97D-98CC-BAF1-1193B1E144DD}"/>
              </a:ext>
            </a:extLst>
          </p:cNvPr>
          <p:cNvSpPr txBox="1"/>
          <p:nvPr/>
        </p:nvSpPr>
        <p:spPr>
          <a:xfrm>
            <a:off x="3479800" y="4927600"/>
            <a:ext cx="1498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3200" b="1">
                <a:solidFill>
                  <a:srgbClr val="FF6B35"/>
                </a:solidFill>
                <a:latin typeface="Aptos" panose="020B0004020202020204" pitchFamily="34" charset="0"/>
              </a:rPr>
              <a:t>Valve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1955AFF-029E-77F3-5E2C-D3B8AB476E73}"/>
              </a:ext>
            </a:extLst>
          </p:cNvPr>
          <p:cNvSpPr txBox="1"/>
          <p:nvPr/>
        </p:nvSpPr>
        <p:spPr>
          <a:xfrm>
            <a:off x="3479800" y="5537200"/>
            <a:ext cx="1498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1300">
                <a:solidFill>
                  <a:srgbClr val="384848"/>
                </a:solidFill>
                <a:latin typeface="Aptos" panose="020B0004020202020204" pitchFamily="34" charset="0"/>
              </a:rPr>
              <a:t>source-level containment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24336F4-838D-2B2F-6B57-74DFC2E6D39C}"/>
              </a:ext>
            </a:extLst>
          </p:cNvPr>
          <p:cNvSpPr/>
          <p:nvPr/>
        </p:nvSpPr>
        <p:spPr>
          <a:xfrm>
            <a:off x="5562600" y="4749800"/>
            <a:ext cx="1905000" cy="1041400"/>
          </a:xfrm>
          <a:prstGeom prst="rect">
            <a:avLst/>
          </a:prstGeom>
          <a:solidFill>
            <a:srgbClr val="F5FAFA"/>
          </a:solidFill>
          <a:ln w="12700">
            <a:solidFill>
              <a:srgbClr val="D6E5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A7D9B5A-91C3-FE51-3472-77B6570873BA}"/>
              </a:ext>
            </a:extLst>
          </p:cNvPr>
          <p:cNvSpPr txBox="1"/>
          <p:nvPr/>
        </p:nvSpPr>
        <p:spPr>
          <a:xfrm>
            <a:off x="5765800" y="4927600"/>
            <a:ext cx="1498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3200" b="1">
                <a:solidFill>
                  <a:srgbClr val="008C9E"/>
                </a:solidFill>
                <a:latin typeface="Aptos" panose="020B0004020202020204" pitchFamily="34" charset="0"/>
              </a:rPr>
              <a:t>Field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6CF624D-4B9E-C5BB-7481-B9F58CFFA4D2}"/>
              </a:ext>
            </a:extLst>
          </p:cNvPr>
          <p:cNvSpPr txBox="1"/>
          <p:nvPr/>
        </p:nvSpPr>
        <p:spPr>
          <a:xfrm>
            <a:off x="5765800" y="5537200"/>
            <a:ext cx="1498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1300">
                <a:solidFill>
                  <a:srgbClr val="384848"/>
                </a:solidFill>
                <a:latin typeface="Aptos" panose="020B0004020202020204" pitchFamily="34" charset="0"/>
              </a:rPr>
              <a:t>deployable bench prototype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85D6757-639B-62F7-963B-1548117277CA}"/>
              </a:ext>
            </a:extLst>
          </p:cNvPr>
          <p:cNvSpPr txBox="1"/>
          <p:nvPr/>
        </p:nvSpPr>
        <p:spPr>
          <a:xfrm>
            <a:off x="8102600" y="4749800"/>
            <a:ext cx="2870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>
                <a:solidFill>
                  <a:srgbClr val="303A3A"/>
                </a:solidFill>
                <a:latin typeface="Aptos" panose="020B0004020202020204" pitchFamily="34" charset="0"/>
              </a:rPr>
              <a:t>The table's point is not that NurdleDNA replaces laboratory chemistry. It fills the operational gap between industrial discharge and later laboratory confirmation.</a:t>
            </a:r>
            <a:endParaRPr lang="en-IN" sz="1500">
              <a:solidFill>
                <a:srgbClr val="303A3A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54019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13C8E57-9308-C537-8A70-9953473322D0}"/>
              </a:ext>
            </a:extLst>
          </p:cNvPr>
          <p:cNvSpPr txBox="1"/>
          <p:nvPr/>
        </p:nvSpPr>
        <p:spPr>
          <a:xfrm>
            <a:off x="533400" y="381000"/>
            <a:ext cx="1104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200" b="1">
                <a:solidFill>
                  <a:srgbClr val="101820"/>
                </a:solidFill>
                <a:latin typeface="Aptos" panose="020B0004020202020204" pitchFamily="34" charset="0"/>
              </a:rPr>
              <a:t>The next step is field hardening and better classification</a:t>
            </a:r>
            <a:endParaRPr lang="en-IN" sz="3200" b="1">
              <a:solidFill>
                <a:srgbClr val="101820"/>
              </a:solidFill>
              <a:latin typeface="Aptos" panose="020B00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8E9174-DFB4-A2F3-FAC6-E71D8B1A117E}"/>
              </a:ext>
            </a:extLst>
          </p:cNvPr>
          <p:cNvSpPr txBox="1"/>
          <p:nvPr/>
        </p:nvSpPr>
        <p:spPr>
          <a:xfrm>
            <a:off x="533400" y="1397000"/>
            <a:ext cx="1041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>
                <a:solidFill>
                  <a:srgbClr val="4E5F5F"/>
                </a:solidFill>
                <a:latin typeface="Aptos" panose="020B0004020202020204" pitchFamily="34" charset="0"/>
              </a:rPr>
              <a:t>The accepted paper is honest about limits and turns them into a roadmap.</a:t>
            </a:r>
            <a:endParaRPr lang="en-IN" sz="1400">
              <a:solidFill>
                <a:srgbClr val="4E5F5F"/>
              </a:solidFill>
              <a:latin typeface="Aptos" panose="020B0004020202020204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8078210-B0C7-845A-61A4-415D3F1E83F8}"/>
              </a:ext>
            </a:extLst>
          </p:cNvPr>
          <p:cNvCxnSpPr/>
          <p:nvPr/>
        </p:nvCxnSpPr>
        <p:spPr>
          <a:xfrm>
            <a:off x="533400" y="6350000"/>
            <a:ext cx="11125200" cy="0"/>
          </a:xfrm>
          <a:prstGeom prst="line">
            <a:avLst/>
          </a:prstGeom>
          <a:ln w="15240">
            <a:solidFill>
              <a:srgbClr val="D2DA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000AD7F0-EEAC-18E4-EC54-066DD65703B0}"/>
              </a:ext>
            </a:extLst>
          </p:cNvPr>
          <p:cNvSpPr txBox="1"/>
          <p:nvPr/>
        </p:nvSpPr>
        <p:spPr>
          <a:xfrm>
            <a:off x="533400" y="6502400"/>
            <a:ext cx="457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900">
                <a:solidFill>
                  <a:srgbClr val="647272"/>
                </a:solidFill>
                <a:latin typeface="Aptos" panose="020B0004020202020204" pitchFamily="34" charset="0"/>
              </a:rPr>
              <a:t>ICSIMA2026 backup video | NurdleDNA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908340-76E4-9D78-1ECE-A656EC98D871}"/>
              </a:ext>
            </a:extLst>
          </p:cNvPr>
          <p:cNvSpPr txBox="1"/>
          <p:nvPr/>
        </p:nvSpPr>
        <p:spPr>
          <a:xfrm>
            <a:off x="10795000" y="6502400"/>
            <a:ext cx="863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900">
                <a:solidFill>
                  <a:srgbClr val="647272"/>
                </a:solidFill>
                <a:latin typeface="Aptos" panose="020B0004020202020204" pitchFamily="34" charset="0"/>
              </a:rPr>
              <a:t>11 / 12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9F16E7B-E5A4-3FD5-CED7-3731D7D9A47B}"/>
              </a:ext>
            </a:extLst>
          </p:cNvPr>
          <p:cNvSpPr/>
          <p:nvPr/>
        </p:nvSpPr>
        <p:spPr>
          <a:xfrm>
            <a:off x="736600" y="1854200"/>
            <a:ext cx="2971800" cy="2768600"/>
          </a:xfrm>
          <a:prstGeom prst="rect">
            <a:avLst/>
          </a:prstGeom>
          <a:solidFill>
            <a:srgbClr val="F5FAFA"/>
          </a:solidFill>
          <a:ln w="12700">
            <a:solidFill>
              <a:srgbClr val="D6E5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359997-E34E-09CF-BA6B-7F19EF1E12E6}"/>
              </a:ext>
            </a:extLst>
          </p:cNvPr>
          <p:cNvSpPr txBox="1"/>
          <p:nvPr/>
        </p:nvSpPr>
        <p:spPr>
          <a:xfrm>
            <a:off x="990600" y="2108200"/>
            <a:ext cx="50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3000" b="1">
                <a:solidFill>
                  <a:srgbClr val="008C9E"/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696E4D-8B27-88E3-35C5-EBF8622AEE36}"/>
              </a:ext>
            </a:extLst>
          </p:cNvPr>
          <p:cNvSpPr txBox="1"/>
          <p:nvPr/>
        </p:nvSpPr>
        <p:spPr>
          <a:xfrm>
            <a:off x="1600200" y="2159000"/>
            <a:ext cx="165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1900" b="1">
                <a:solidFill>
                  <a:srgbClr val="101820"/>
                </a:solidFill>
                <a:latin typeface="Aptos" panose="020B0004020202020204" pitchFamily="34" charset="0"/>
              </a:rPr>
              <a:t>Field hardening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DD81A1-E174-BD26-112C-53B9B0E8148E}"/>
              </a:ext>
            </a:extLst>
          </p:cNvPr>
          <p:cNvSpPr txBox="1"/>
          <p:nvPr/>
        </p:nvSpPr>
        <p:spPr>
          <a:xfrm>
            <a:off x="990600" y="2870200"/>
            <a:ext cx="228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600">
                <a:solidFill>
                  <a:srgbClr val="303A3A"/>
                </a:solidFill>
                <a:latin typeface="Aptos" panose="020B0004020202020204" pitchFamily="34" charset="0"/>
              </a:rPr>
              <a:t>IP-rated enclosure, multi-bay deployment, SCADA compatibility, and quantified maintenance intervals.</a:t>
            </a:r>
            <a:endParaRPr lang="en-IN" sz="1600">
              <a:solidFill>
                <a:srgbClr val="303A3A"/>
              </a:solidFill>
              <a:latin typeface="Aptos" panose="020B00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008C26-601F-6254-9109-143D2313DAC0}"/>
              </a:ext>
            </a:extLst>
          </p:cNvPr>
          <p:cNvSpPr/>
          <p:nvPr/>
        </p:nvSpPr>
        <p:spPr>
          <a:xfrm>
            <a:off x="4495800" y="1854200"/>
            <a:ext cx="2971800" cy="2768600"/>
          </a:xfrm>
          <a:prstGeom prst="rect">
            <a:avLst/>
          </a:prstGeom>
          <a:solidFill>
            <a:srgbClr val="FFF7F1"/>
          </a:solidFill>
          <a:ln w="12700">
            <a:solidFill>
              <a:srgbClr val="F2C9A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E45726F-54C0-4488-B650-FEAF15C02A52}"/>
              </a:ext>
            </a:extLst>
          </p:cNvPr>
          <p:cNvSpPr txBox="1"/>
          <p:nvPr/>
        </p:nvSpPr>
        <p:spPr>
          <a:xfrm>
            <a:off x="4749800" y="2108200"/>
            <a:ext cx="50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3000" b="1">
                <a:solidFill>
                  <a:srgbClr val="FF6B35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E2A55EC-25E4-1F78-B628-B9D6900DAE46}"/>
              </a:ext>
            </a:extLst>
          </p:cNvPr>
          <p:cNvSpPr txBox="1"/>
          <p:nvPr/>
        </p:nvSpPr>
        <p:spPr>
          <a:xfrm>
            <a:off x="5359400" y="2159000"/>
            <a:ext cx="1803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1900" b="1">
                <a:solidFill>
                  <a:srgbClr val="101820"/>
                </a:solidFill>
                <a:latin typeface="Aptos" panose="020B0004020202020204" pitchFamily="34" charset="0"/>
              </a:rPr>
              <a:t>Model improvement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9C83587-602C-D4FF-BFC4-12C3956278A0}"/>
              </a:ext>
            </a:extLst>
          </p:cNvPr>
          <p:cNvSpPr txBox="1"/>
          <p:nvPr/>
        </p:nvSpPr>
        <p:spPr>
          <a:xfrm>
            <a:off x="4749800" y="2870200"/>
            <a:ext cx="228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600">
                <a:solidFill>
                  <a:srgbClr val="303A3A"/>
                </a:solidFill>
                <a:latin typeface="Aptos" panose="020B0004020202020204" pitchFamily="34" charset="0"/>
              </a:rPr>
              <a:t>Curated weathered-nurdle dataset, class balancing, and YOLOv8s/m on Jetson Orin Nano.</a:t>
            </a:r>
            <a:endParaRPr lang="en-IN" sz="1600">
              <a:solidFill>
                <a:srgbClr val="303A3A"/>
              </a:solidFill>
              <a:latin typeface="Aptos" panose="020B0004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F3A53C2-2F85-9C6D-3830-8C9EBF12E5D3}"/>
              </a:ext>
            </a:extLst>
          </p:cNvPr>
          <p:cNvSpPr/>
          <p:nvPr/>
        </p:nvSpPr>
        <p:spPr>
          <a:xfrm>
            <a:off x="8255000" y="1854200"/>
            <a:ext cx="2971800" cy="2768600"/>
          </a:xfrm>
          <a:prstGeom prst="rect">
            <a:avLst/>
          </a:prstGeom>
          <a:solidFill>
            <a:srgbClr val="F5FAFA"/>
          </a:solidFill>
          <a:ln w="12700">
            <a:solidFill>
              <a:srgbClr val="D6E5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CD4D136-2CF9-6160-C4CA-7F0753C5A546}"/>
              </a:ext>
            </a:extLst>
          </p:cNvPr>
          <p:cNvSpPr txBox="1"/>
          <p:nvPr/>
        </p:nvSpPr>
        <p:spPr>
          <a:xfrm>
            <a:off x="8509000" y="2108200"/>
            <a:ext cx="50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3000" b="1">
                <a:solidFill>
                  <a:srgbClr val="008C9E"/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6D80E78-9B86-CB90-7E97-DFF6FFED3393}"/>
              </a:ext>
            </a:extLst>
          </p:cNvPr>
          <p:cNvSpPr txBox="1"/>
          <p:nvPr/>
        </p:nvSpPr>
        <p:spPr>
          <a:xfrm>
            <a:off x="9118600" y="2159000"/>
            <a:ext cx="165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1900" b="1">
                <a:solidFill>
                  <a:srgbClr val="101820"/>
                </a:solidFill>
                <a:latin typeface="Aptos" panose="020B0004020202020204" pitchFamily="34" charset="0"/>
              </a:rPr>
              <a:t>Polymer ID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BF9E752-FF59-DF45-0805-60E860FC847B}"/>
              </a:ext>
            </a:extLst>
          </p:cNvPr>
          <p:cNvSpPr txBox="1"/>
          <p:nvPr/>
        </p:nvSpPr>
        <p:spPr>
          <a:xfrm>
            <a:off x="8509000" y="2870200"/>
            <a:ext cx="228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600">
                <a:solidFill>
                  <a:srgbClr val="303A3A"/>
                </a:solidFill>
                <a:latin typeface="Aptos" panose="020B0004020202020204" pitchFamily="34" charset="0"/>
              </a:rPr>
              <a:t>Miniature Raman or VIS-NIR sensing at the evidence cartridge to complete the NurdleDNA paradigm.</a:t>
            </a:r>
            <a:endParaRPr lang="en-IN" sz="1600">
              <a:solidFill>
                <a:srgbClr val="303A3A"/>
              </a:solidFill>
              <a:latin typeface="Aptos" panose="020B00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BF9DB45-12D1-77E1-F427-1B5F883A25F7}"/>
              </a:ext>
            </a:extLst>
          </p:cNvPr>
          <p:cNvSpPr txBox="1"/>
          <p:nvPr/>
        </p:nvSpPr>
        <p:spPr>
          <a:xfrm>
            <a:off x="1422400" y="5308600"/>
            <a:ext cx="914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700" b="1">
                <a:solidFill>
                  <a:srgbClr val="303A3A"/>
                </a:solidFill>
                <a:latin typeface="Aptos" panose="020B0004020202020204" pitchFamily="34" charset="0"/>
              </a:rPr>
              <a:t>The roadmap preserves the architecture: detect locally, contain physically, and log evidence in a way that scales from one bay to many.</a:t>
            </a:r>
            <a:endParaRPr lang="en-IN" sz="1700" b="1">
              <a:solidFill>
                <a:srgbClr val="303A3A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7330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DB8D1AE-2560-0F91-E72D-D8C51FE33B9A}"/>
              </a:ext>
            </a:extLst>
          </p:cNvPr>
          <p:cNvSpPr txBox="1"/>
          <p:nvPr/>
        </p:nvSpPr>
        <p:spPr>
          <a:xfrm>
            <a:off x="914400" y="1041400"/>
            <a:ext cx="10033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3500" b="1">
                <a:solidFill>
                  <a:srgbClr val="101820"/>
                </a:solidFill>
                <a:latin typeface="Aptos" panose="020B0004020202020204" pitchFamily="34" charset="0"/>
              </a:rPr>
              <a:t>NurdleDNA turns microplastic monitoring into a closed-loop response system.</a:t>
            </a:r>
            <a:endParaRPr lang="en-IN" sz="3500" b="1">
              <a:solidFill>
                <a:srgbClr val="101820"/>
              </a:solidFill>
              <a:latin typeface="Aptos" panose="020B00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844A917-277B-9032-488B-69C86DA44F2F}"/>
              </a:ext>
            </a:extLst>
          </p:cNvPr>
          <p:cNvSpPr/>
          <p:nvPr/>
        </p:nvSpPr>
        <p:spPr>
          <a:xfrm>
            <a:off x="1371600" y="2997200"/>
            <a:ext cx="2794000" cy="147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F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E8C692-DA0A-96E0-7215-EFCD75B35449}"/>
              </a:ext>
            </a:extLst>
          </p:cNvPr>
          <p:cNvSpPr txBox="1"/>
          <p:nvPr/>
        </p:nvSpPr>
        <p:spPr>
          <a:xfrm>
            <a:off x="1676400" y="3302000"/>
            <a:ext cx="215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IN" sz="2200" b="1">
                <a:solidFill>
                  <a:srgbClr val="008C9E"/>
                </a:solidFill>
                <a:latin typeface="Aptos" panose="020B0004020202020204" pitchFamily="34" charset="0"/>
              </a:rPr>
              <a:t>Detect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3249CD-8C28-7B73-75D6-D4FE14E726CB}"/>
              </a:ext>
            </a:extLst>
          </p:cNvPr>
          <p:cNvSpPr txBox="1"/>
          <p:nvPr/>
        </p:nvSpPr>
        <p:spPr>
          <a:xfrm>
            <a:off x="1676400" y="3835400"/>
            <a:ext cx="215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500">
                <a:solidFill>
                  <a:srgbClr val="303A3A"/>
                </a:solidFill>
                <a:latin typeface="Aptos" panose="020B0004020202020204" pitchFamily="34" charset="0"/>
              </a:rPr>
              <a:t>AI vision and sensor fusion identify a persistent hazard.</a:t>
            </a:r>
            <a:endParaRPr lang="en-IN" sz="1500">
              <a:solidFill>
                <a:srgbClr val="303A3A"/>
              </a:solidFill>
              <a:latin typeface="Aptos" panose="020B00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39DEB12-E6E6-D3A0-26BD-0D76B21D9F9D}"/>
              </a:ext>
            </a:extLst>
          </p:cNvPr>
          <p:cNvSpPr/>
          <p:nvPr/>
        </p:nvSpPr>
        <p:spPr>
          <a:xfrm>
            <a:off x="4699000" y="2997200"/>
            <a:ext cx="2794000" cy="147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F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53038F-AD5A-98C8-3DE1-C30107830A26}"/>
              </a:ext>
            </a:extLst>
          </p:cNvPr>
          <p:cNvSpPr txBox="1"/>
          <p:nvPr/>
        </p:nvSpPr>
        <p:spPr>
          <a:xfrm>
            <a:off x="5003800" y="3302000"/>
            <a:ext cx="215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IN" sz="2200" b="1">
                <a:solidFill>
                  <a:srgbClr val="C2501B"/>
                </a:solidFill>
                <a:latin typeface="Aptos" panose="020B0004020202020204" pitchFamily="34" charset="0"/>
              </a:rPr>
              <a:t>Contain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7149A7-9FB0-17FC-167E-CC6BD2873919}"/>
              </a:ext>
            </a:extLst>
          </p:cNvPr>
          <p:cNvSpPr txBox="1"/>
          <p:nvPr/>
        </p:nvSpPr>
        <p:spPr>
          <a:xfrm>
            <a:off x="5003800" y="3835400"/>
            <a:ext cx="215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500">
                <a:solidFill>
                  <a:srgbClr val="303A3A"/>
                </a:solidFill>
                <a:latin typeface="Aptos" panose="020B0004020202020204" pitchFamily="34" charset="0"/>
              </a:rPr>
              <a:t>A deterministic Arduino FSM closes the physical flow path.</a:t>
            </a:r>
            <a:endParaRPr lang="en-IN" sz="1500">
              <a:solidFill>
                <a:srgbClr val="303A3A"/>
              </a:solidFill>
              <a:latin typeface="Aptos" panose="020B00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A1B10E1-C586-C755-5E88-C47437C4F63A}"/>
              </a:ext>
            </a:extLst>
          </p:cNvPr>
          <p:cNvSpPr/>
          <p:nvPr/>
        </p:nvSpPr>
        <p:spPr>
          <a:xfrm>
            <a:off x="8026400" y="2997200"/>
            <a:ext cx="2794000" cy="147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F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6E0FCC-E9F8-7C2A-F67F-3A21E79E4D93}"/>
              </a:ext>
            </a:extLst>
          </p:cNvPr>
          <p:cNvSpPr txBox="1"/>
          <p:nvPr/>
        </p:nvSpPr>
        <p:spPr>
          <a:xfrm>
            <a:off x="8331200" y="3302000"/>
            <a:ext cx="215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IN" sz="2200" b="1">
                <a:solidFill>
                  <a:srgbClr val="008C9E"/>
                </a:solidFill>
                <a:latin typeface="Aptos" panose="020B0004020202020204" pitchFamily="34" charset="0"/>
              </a:rPr>
              <a:t>Prove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77F8FAA-06FD-9A13-5DCD-530F9C20663B}"/>
              </a:ext>
            </a:extLst>
          </p:cNvPr>
          <p:cNvSpPr txBox="1"/>
          <p:nvPr/>
        </p:nvSpPr>
        <p:spPr>
          <a:xfrm>
            <a:off x="8331200" y="3835400"/>
            <a:ext cx="215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500">
                <a:solidFill>
                  <a:srgbClr val="303A3A"/>
                </a:solidFill>
                <a:latin typeface="Aptos" panose="020B0004020202020204" pitchFamily="34" charset="0"/>
              </a:rPr>
              <a:t>Captured mass, frames, and cloud logs create an audit trail.</a:t>
            </a:r>
            <a:endParaRPr lang="en-IN" sz="1500">
              <a:solidFill>
                <a:srgbClr val="303A3A"/>
              </a:solidFill>
              <a:latin typeface="Aptos" panose="020B00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3EC2A2E-0164-88EA-9EFF-4DA79B48093D}"/>
              </a:ext>
            </a:extLst>
          </p:cNvPr>
          <p:cNvSpPr txBox="1"/>
          <p:nvPr/>
        </p:nvSpPr>
        <p:spPr>
          <a:xfrm>
            <a:off x="2946400" y="5334000"/>
            <a:ext cx="6299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2300" b="1">
                <a:solidFill>
                  <a:srgbClr val="101820"/>
                </a:solidFill>
                <a:latin typeface="Aptos" panose="020B0004020202020204" pitchFamily="34" charset="0"/>
              </a:rPr>
              <a:t>Thank you. I am happy to take questions.</a:t>
            </a:r>
            <a:endParaRPr lang="en-IN" sz="2300" b="1">
              <a:solidFill>
                <a:srgbClr val="101820"/>
              </a:solidFill>
              <a:latin typeface="Aptos" panose="020B0004020202020204" pitchFamily="34" charset="0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47B83EC-6428-67C0-67F9-2C5DCBDBA96F}"/>
              </a:ext>
            </a:extLst>
          </p:cNvPr>
          <p:cNvCxnSpPr/>
          <p:nvPr/>
        </p:nvCxnSpPr>
        <p:spPr>
          <a:xfrm>
            <a:off x="533400" y="6350000"/>
            <a:ext cx="11125200" cy="0"/>
          </a:xfrm>
          <a:prstGeom prst="line">
            <a:avLst/>
          </a:prstGeom>
          <a:ln w="15240">
            <a:solidFill>
              <a:srgbClr val="D2DA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F573BBD-26D8-C24C-E230-33EF0164EAD8}"/>
              </a:ext>
            </a:extLst>
          </p:cNvPr>
          <p:cNvSpPr txBox="1"/>
          <p:nvPr/>
        </p:nvSpPr>
        <p:spPr>
          <a:xfrm>
            <a:off x="533400" y="6502400"/>
            <a:ext cx="457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900">
                <a:solidFill>
                  <a:srgbClr val="647272"/>
                </a:solidFill>
                <a:latin typeface="Aptos" panose="020B0004020202020204" pitchFamily="34" charset="0"/>
              </a:rPr>
              <a:t>ICSIMA2026 backup video | NurdleDNA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F5ADF69-FCFA-02C8-7F03-4F152CAA6249}"/>
              </a:ext>
            </a:extLst>
          </p:cNvPr>
          <p:cNvSpPr txBox="1"/>
          <p:nvPr/>
        </p:nvSpPr>
        <p:spPr>
          <a:xfrm>
            <a:off x="10795000" y="6502400"/>
            <a:ext cx="863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900">
                <a:solidFill>
                  <a:srgbClr val="647272"/>
                </a:solidFill>
                <a:latin typeface="Aptos" panose="020B0004020202020204" pitchFamily="34" charset="0"/>
              </a:rPr>
              <a:t>12 / 12</a:t>
            </a:r>
          </a:p>
        </p:txBody>
      </p:sp>
    </p:spTree>
    <p:extLst>
      <p:ext uri="{BB962C8B-B14F-4D97-AF65-F5344CB8AC3E}">
        <p14:creationId xmlns:p14="http://schemas.microsoft.com/office/powerpoint/2010/main" val="10390899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1033</Words>
  <Application>Microsoft Office PowerPoint</Application>
  <PresentationFormat>Custom</PresentationFormat>
  <Paragraphs>150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Faaz Ali Shahebaz Ali Sayyed</dc:creator>
  <cp:lastModifiedBy>Faaz Ali Shahebaz Ali Sayyed</cp:lastModifiedBy>
  <cp:revision>1</cp:revision>
  <dcterms:created xsi:type="dcterms:W3CDTF">2026-07-02T09:21:19Z</dcterms:created>
  <dcterms:modified xsi:type="dcterms:W3CDTF">2026-07-02T09:21:19Z</dcterms:modified>
</cp:coreProperties>
</file>